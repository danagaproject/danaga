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69944-706C-41E8-B569-1CC6E83F8AA4}" v="3" dt="2026-03-06T06:29:56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도 이" userId="c96f700dd13ccddf" providerId="LiveId" clId="{A89BBDBD-99AF-4535-8612-6CDD44672AAD}"/>
    <pc:docChg chg="undo custSel modSld">
      <pc:chgData name="효도 이" userId="c96f700dd13ccddf" providerId="LiveId" clId="{A89BBDBD-99AF-4535-8612-6CDD44672AAD}" dt="2026-03-06T06:31:27.115" v="183" actId="1036"/>
      <pc:docMkLst>
        <pc:docMk/>
      </pc:docMkLst>
      <pc:sldChg chg="addSp modSp mod">
        <pc:chgData name="효도 이" userId="c96f700dd13ccddf" providerId="LiveId" clId="{A89BBDBD-99AF-4535-8612-6CDD44672AAD}" dt="2026-03-06T06:31:27.115" v="183" actId="1036"/>
        <pc:sldMkLst>
          <pc:docMk/>
          <pc:sldMk cId="0" sldId="274"/>
        </pc:sldMkLst>
        <pc:spChg chg="mod">
          <ac:chgData name="효도 이" userId="c96f700dd13ccddf" providerId="LiveId" clId="{A89BBDBD-99AF-4535-8612-6CDD44672AAD}" dt="2026-03-06T06:29:04.735" v="41" actId="1036"/>
          <ac:spMkLst>
            <pc:docMk/>
            <pc:sldMk cId="0" sldId="274"/>
            <ac:spMk id="2" creationId="{00000000-0000-0000-0000-000000000000}"/>
          </ac:spMkLst>
        </pc:spChg>
        <pc:spChg chg="add mod">
          <ac:chgData name="효도 이" userId="c96f700dd13ccddf" providerId="LiveId" clId="{A89BBDBD-99AF-4535-8612-6CDD44672AAD}" dt="2026-03-06T06:28:25.644" v="1" actId="571"/>
          <ac:spMkLst>
            <pc:docMk/>
            <pc:sldMk cId="0" sldId="274"/>
            <ac:spMk id="3" creationId="{0204DDB6-77A9-26FB-3264-12D660D53BED}"/>
          </ac:spMkLst>
        </pc:spChg>
        <pc:spChg chg="add mod">
          <ac:chgData name="효도 이" userId="c96f700dd13ccddf" providerId="LiveId" clId="{A89BBDBD-99AF-4535-8612-6CDD44672AAD}" dt="2026-03-06T06:28:25.644" v="1" actId="571"/>
          <ac:spMkLst>
            <pc:docMk/>
            <pc:sldMk cId="0" sldId="274"/>
            <ac:spMk id="4" creationId="{343EBA35-3678-ABAB-209F-F6939DF9B890}"/>
          </ac:spMkLst>
        </pc:spChg>
        <pc:spChg chg="add mod">
          <ac:chgData name="효도 이" userId="c96f700dd13ccddf" providerId="LiveId" clId="{A89BBDBD-99AF-4535-8612-6CDD44672AAD}" dt="2026-03-06T06:28:25.644" v="1" actId="571"/>
          <ac:spMkLst>
            <pc:docMk/>
            <pc:sldMk cId="0" sldId="274"/>
            <ac:spMk id="5" creationId="{958A930A-F3F3-944B-5416-B293FD0A422E}"/>
          </ac:spMkLst>
        </pc:spChg>
        <pc:spChg chg="add mod">
          <ac:chgData name="효도 이" userId="c96f700dd13ccddf" providerId="LiveId" clId="{A89BBDBD-99AF-4535-8612-6CDD44672AAD}" dt="2026-03-06T06:30:45.167" v="154" actId="14100"/>
          <ac:spMkLst>
            <pc:docMk/>
            <pc:sldMk cId="0" sldId="274"/>
            <ac:spMk id="6" creationId="{A7921297-2753-04D5-6838-0AB1BFA9643E}"/>
          </ac:spMkLst>
        </pc:spChg>
        <pc:spChg chg="mod">
          <ac:chgData name="효도 이" userId="c96f700dd13ccddf" providerId="LiveId" clId="{A89BBDBD-99AF-4535-8612-6CDD44672AAD}" dt="2026-03-06T06:30:34.509" v="152" actId="1037"/>
          <ac:spMkLst>
            <pc:docMk/>
            <pc:sldMk cId="0" sldId="274"/>
            <ac:spMk id="880" creationId="{00000000-0000-0000-0000-000000000000}"/>
          </ac:spMkLst>
        </pc:spChg>
        <pc:spChg chg="mod">
          <ac:chgData name="효도 이" userId="c96f700dd13ccddf" providerId="LiveId" clId="{A89BBDBD-99AF-4535-8612-6CDD44672AAD}" dt="2026-03-06T06:30:34.509" v="152" actId="1037"/>
          <ac:spMkLst>
            <pc:docMk/>
            <pc:sldMk cId="0" sldId="274"/>
            <ac:spMk id="881" creationId="{00000000-0000-0000-0000-000000000000}"/>
          </ac:spMkLst>
        </pc:spChg>
        <pc:spChg chg="mod">
          <ac:chgData name="효도 이" userId="c96f700dd13ccddf" providerId="LiveId" clId="{A89BBDBD-99AF-4535-8612-6CDD44672AAD}" dt="2026-03-06T06:30:34.509" v="152" actId="1037"/>
          <ac:spMkLst>
            <pc:docMk/>
            <pc:sldMk cId="0" sldId="274"/>
            <ac:spMk id="882" creationId="{00000000-0000-0000-0000-000000000000}"/>
          </ac:spMkLst>
        </pc:spChg>
        <pc:spChg chg="mod">
          <ac:chgData name="효도 이" userId="c96f700dd13ccddf" providerId="LiveId" clId="{A89BBDBD-99AF-4535-8612-6CDD44672AAD}" dt="2026-03-06T06:30:34.509" v="152" actId="1037"/>
          <ac:spMkLst>
            <pc:docMk/>
            <pc:sldMk cId="0" sldId="274"/>
            <ac:spMk id="883" creationId="{00000000-0000-0000-0000-000000000000}"/>
          </ac:spMkLst>
        </pc:spChg>
        <pc:spChg chg="mod">
          <ac:chgData name="효도 이" userId="c96f700dd13ccddf" providerId="LiveId" clId="{A89BBDBD-99AF-4535-8612-6CDD44672AAD}" dt="2026-03-06T06:30:39.911" v="153" actId="14100"/>
          <ac:spMkLst>
            <pc:docMk/>
            <pc:sldMk cId="0" sldId="274"/>
            <ac:spMk id="888" creationId="{00000000-0000-0000-0000-000000000000}"/>
          </ac:spMkLst>
        </pc:spChg>
        <pc:spChg chg="mod">
          <ac:chgData name="효도 이" userId="c96f700dd13ccddf" providerId="LiveId" clId="{A89BBDBD-99AF-4535-8612-6CDD44672AAD}" dt="2026-03-06T06:29:17.202" v="79" actId="1038"/>
          <ac:spMkLst>
            <pc:docMk/>
            <pc:sldMk cId="0" sldId="274"/>
            <ac:spMk id="908" creationId="{00000000-0000-0000-0000-000000000000}"/>
          </ac:spMkLst>
        </pc:spChg>
        <pc:spChg chg="mod">
          <ac:chgData name="효도 이" userId="c96f700dd13ccddf" providerId="LiveId" clId="{A89BBDBD-99AF-4535-8612-6CDD44672AAD}" dt="2026-03-06T06:29:24.103" v="98" actId="1037"/>
          <ac:spMkLst>
            <pc:docMk/>
            <pc:sldMk cId="0" sldId="274"/>
            <ac:spMk id="910" creationId="{00000000-0000-0000-0000-000000000000}"/>
          </ac:spMkLst>
        </pc:spChg>
        <pc:spChg chg="mod">
          <ac:chgData name="효도 이" userId="c96f700dd13ccddf" providerId="LiveId" clId="{A89BBDBD-99AF-4535-8612-6CDD44672AAD}" dt="2026-03-06T06:29:41.322" v="104" actId="1035"/>
          <ac:spMkLst>
            <pc:docMk/>
            <pc:sldMk cId="0" sldId="274"/>
            <ac:spMk id="911" creationId="{00000000-0000-0000-0000-000000000000}"/>
          </ac:spMkLst>
        </pc:spChg>
        <pc:spChg chg="mod">
          <ac:chgData name="효도 이" userId="c96f700dd13ccddf" providerId="LiveId" clId="{A89BBDBD-99AF-4535-8612-6CDD44672AAD}" dt="2026-03-06T06:29:33.600" v="99" actId="1076"/>
          <ac:spMkLst>
            <pc:docMk/>
            <pc:sldMk cId="0" sldId="274"/>
            <ac:spMk id="912" creationId="{00000000-0000-0000-0000-000000000000}"/>
          </ac:spMkLst>
        </pc:spChg>
        <pc:spChg chg="mod">
          <ac:chgData name="효도 이" userId="c96f700dd13ccddf" providerId="LiveId" clId="{A89BBDBD-99AF-4535-8612-6CDD44672AAD}" dt="2026-03-06T06:29:33.600" v="99" actId="1076"/>
          <ac:spMkLst>
            <pc:docMk/>
            <pc:sldMk cId="0" sldId="274"/>
            <ac:spMk id="913" creationId="{00000000-0000-0000-0000-000000000000}"/>
          </ac:spMkLst>
        </pc:spChg>
        <pc:spChg chg="mod">
          <ac:chgData name="효도 이" userId="c96f700dd13ccddf" providerId="LiveId" clId="{A89BBDBD-99AF-4535-8612-6CDD44672AAD}" dt="2026-03-06T06:31:27.115" v="183" actId="1036"/>
          <ac:spMkLst>
            <pc:docMk/>
            <pc:sldMk cId="0" sldId="274"/>
            <ac:spMk id="9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슬라이드를 이동하려면 클릭하십시오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055872D7-94F5-4318-9F8B-75FB364DDDE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60341E-DDBB-4A78-808D-A942688AD2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0D60A0-8002-4C35-9BD1-3226D1D727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BD4867-D246-4959-A14A-4D7300625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7539A4-20D1-4C6B-9618-122734ADFD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E90076-0348-4153-B014-0A4675BD90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A79D86-4E56-4CCB-B7A0-F809159EB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B0B3EB-7D5D-4B6F-85DC-3769633FFF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AAB6C1-BD99-497D-A8E4-16C5B7C432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DD3604-ED5E-485D-9B0A-0E4C471E3C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C0A091-6AE3-4487-A0DE-8C6C485B2A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9AED1B-DFFE-4C6D-BE8A-F3ECBC2083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57BA6D-60E3-48B5-AED2-0E4FFB3381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055872D7-94F5-4318-9F8B-75FB364DDDE4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맑은 고딕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09074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AD6567-DB50-49B0-A3E7-BE01E92FD6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E0AD91-C61B-42BF-87D7-087AEB5B98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91E10C-56CD-485D-BC23-83F0F8F0BD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6C7468-73CE-442D-A9C9-3736E0F43E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0A852C-DE89-4899-9800-40D10B89D6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0748B6-4D3A-4AC9-8CEC-F473B94F3E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500CA6-7612-4BDD-B2C4-C609D389BF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buNone/>
            </a:pPr>
            <a:r>
              <a: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6800" cy="5141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28600" y="0"/>
            <a:ext cx="8913600" cy="2284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457200"/>
            <a:ext cx="73134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화면정의서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463040"/>
            <a:ext cx="8227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중고 컴퓨터 거래 사이트</a:t>
            </a: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다나가</a:t>
            </a: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)  —  Console Based Java Project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40080" y="2560320"/>
            <a:ext cx="3655800" cy="684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2560320"/>
            <a:ext cx="52920" cy="684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04600" y="2615040"/>
            <a:ext cx="338148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☕  언어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04600" y="2862000"/>
            <a:ext cx="3381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Java (Console)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4754880" y="2560320"/>
            <a:ext cx="3655800" cy="684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4754880" y="2560320"/>
            <a:ext cx="52920" cy="684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919400" y="2615040"/>
            <a:ext cx="338148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🗄️  DB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919400" y="2862000"/>
            <a:ext cx="3381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MySQL (JDBC)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40080" y="3474720"/>
            <a:ext cx="3655800" cy="684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40080" y="3474720"/>
            <a:ext cx="52920" cy="684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04600" y="3529440"/>
            <a:ext cx="338148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👥  권한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04600" y="3776400"/>
            <a:ext cx="3381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비로그인 </a:t>
            </a:r>
            <a:r>
              <a:rPr lang="en-US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USER /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4754880" y="3474720"/>
            <a:ext cx="3655800" cy="684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4754880" y="3474720"/>
            <a:ext cx="52920" cy="684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4919400" y="3529440"/>
            <a:ext cx="338148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📋  총 화면 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4919400" y="3776400"/>
            <a:ext cx="3381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23 </a:t>
            </a:r>
            <a:r>
              <a:rPr lang="ko-KR" sz="13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화면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52"/>
          <p:cNvSpPr/>
          <p:nvPr/>
        </p:nvSpPr>
        <p:spPr>
          <a:xfrm>
            <a:off x="0" y="0"/>
            <a:ext cx="226800" cy="5141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Shape 58"/>
          <p:cNvSpPr/>
          <p:nvPr/>
        </p:nvSpPr>
        <p:spPr>
          <a:xfrm>
            <a:off x="228600" y="0"/>
            <a:ext cx="8913600" cy="1078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Text 59"/>
          <p:cNvSpPr/>
          <p:nvPr/>
        </p:nvSpPr>
        <p:spPr>
          <a:xfrm>
            <a:off x="640080" y="97200"/>
            <a:ext cx="73134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수정이력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Shape 82"/>
          <p:cNvSpPr/>
          <p:nvPr/>
        </p:nvSpPr>
        <p:spPr>
          <a:xfrm>
            <a:off x="7726680" y="4544640"/>
            <a:ext cx="1324080" cy="21780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0000" y="1260000"/>
            <a:ext cx="1730520" cy="3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- 1.0 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처음 생성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0360" y="1260360"/>
            <a:ext cx="8733779" cy="3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- 1.0 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처음 생성</a:t>
            </a:r>
            <a:br>
              <a:rPr sz="1800" dirty="0"/>
            </a:b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- 1.1 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상품 상태 전이 흐름 추가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상품 상태 전이 흐름 수정</a:t>
            </a:r>
            <a:br>
              <a:rPr sz="1800" dirty="0"/>
            </a:b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- 1.2 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구매 신청 확인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결과의 거래상태변화 수정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br>
              <a:rPr sz="1800" dirty="0"/>
            </a:b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      </a:t>
            </a:r>
            <a:r>
              <a:rPr lang="ko-KR" sz="1800" b="0" u="none" strike="noStrike" dirty="0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내 구매 현황의 상태 표시정의 수정</a:t>
            </a:r>
            <a:b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- 1.3 </a:t>
            </a:r>
            <a:r>
              <a:rPr lang="ko-KR" altLang="ko-KR" dirty="0">
                <a:solidFill>
                  <a:srgbClr val="000000"/>
                </a:solidFill>
                <a:latin typeface="맑은 고딕"/>
                <a:ea typeface="맑은 고딕"/>
              </a:rPr>
              <a:t>거래상태전이 흐름에 배송상태 추가</a:t>
            </a:r>
            <a:b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- 1.4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배송 처리 화면 추가 </a:t>
            </a: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(SCR-016-S),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상품등록</a:t>
            </a: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 상품목록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</a:rPr>
              <a:t>카테고리별검색에서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b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      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카테고리 수정</a:t>
            </a:r>
            <a:b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- 1.5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판매자 취소 요청 처리 화면 추가 </a:t>
            </a: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(SCR-016-C),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관리자 취소요청 목록 판매자 </a:t>
            </a:r>
            <a:b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      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거절 케이스 명시</a:t>
            </a:r>
            <a:b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dirty="0">
                <a:solidFill>
                  <a:srgbClr val="1A73E8"/>
                </a:solidFill>
                <a:latin typeface="맑은 고딕"/>
                <a:ea typeface="맑은 고딕"/>
              </a:rPr>
              <a:t>- 1.6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SCR-016-C 판매자 거절 시 거래 상태 명시 (CANCEL_REQUEST 유지), SCR-020 처리구분 컬럼 추가, 거래 상태 전이 흐름 거절 경로 레이블 보완</a:t>
            </a:r>
            <a:b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dirty="0">
                <a:solidFill>
                  <a:srgbClr val="1A73E8"/>
                </a:solidFill>
                <a:latin typeface="맑은 고딕"/>
                <a:ea typeface="맑은 고딕"/>
              </a:rPr>
              <a:t>- 1.7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CANCEL_REJECTED 상태 신규 추가 (판매자 거절 시 CANCEL_REQUEST→CANCEL_REJECTED 전이), SCR-011 상태 표시 정의 추가, SCR-020 상태값 반영, 거래 상태 전이 흐름 다이어그램 CANCEL_REJECTED 노드 추가</a:t>
            </a:r>
            <a:endParaRPr lang="ko-KR" sz="1800" b="0" u="none" strike="noStrike" dirty="0">
              <a:solidFill>
                <a:srgbClr val="000000"/>
              </a:solidFill>
              <a:effectLst/>
              <a:uFillTx/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목차  —  화면 구성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3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화면 목차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274320" y="1234440"/>
            <a:ext cx="4113000" cy="29088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6"/>
          <p:cNvSpPr/>
          <p:nvPr/>
        </p:nvSpPr>
        <p:spPr>
          <a:xfrm>
            <a:off x="384120" y="1280160"/>
            <a:ext cx="39301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 </a:t>
            </a:r>
            <a:r>
              <a:rPr lang="ko-K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비로그인 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274320" y="1554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74320" y="1554480"/>
            <a:ext cx="52920" cy="27252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9"/>
          <p:cNvSpPr/>
          <p:nvPr/>
        </p:nvSpPr>
        <p:spPr>
          <a:xfrm>
            <a:off x="438840" y="15912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비로그인 메인 메뉴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274320" y="183780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274320" y="1837800"/>
            <a:ext cx="52920" cy="27252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38840" y="18745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274320" y="2121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274320" y="2121480"/>
            <a:ext cx="52920" cy="27252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38840" y="21578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회원가입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Shape 16"/>
          <p:cNvSpPr/>
          <p:nvPr/>
        </p:nvSpPr>
        <p:spPr>
          <a:xfrm>
            <a:off x="274320" y="240480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274320" y="2404800"/>
            <a:ext cx="52920" cy="27252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38840" y="24415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목록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 검색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274320" y="2688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274320" y="2688480"/>
            <a:ext cx="52920" cy="27252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38840" y="27248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상세보기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비로그인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274320" y="3081600"/>
            <a:ext cx="411300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384120" y="3127320"/>
            <a:ext cx="39301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 USER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274320" y="340164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Shape 25"/>
          <p:cNvSpPr/>
          <p:nvPr/>
        </p:nvSpPr>
        <p:spPr>
          <a:xfrm>
            <a:off x="274320" y="3401640"/>
            <a:ext cx="52920" cy="2725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438840" y="34380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 후 메인 메뉴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Shape 27"/>
          <p:cNvSpPr/>
          <p:nvPr/>
        </p:nvSpPr>
        <p:spPr>
          <a:xfrm>
            <a:off x="274320" y="368496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274320" y="3684960"/>
            <a:ext cx="52920" cy="2725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29"/>
          <p:cNvSpPr/>
          <p:nvPr/>
        </p:nvSpPr>
        <p:spPr>
          <a:xfrm>
            <a:off x="438840" y="372168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상세보기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Shape 30"/>
          <p:cNvSpPr/>
          <p:nvPr/>
        </p:nvSpPr>
        <p:spPr>
          <a:xfrm>
            <a:off x="274320" y="396864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Shape 31"/>
          <p:cNvSpPr/>
          <p:nvPr/>
        </p:nvSpPr>
        <p:spPr>
          <a:xfrm>
            <a:off x="274320" y="3968640"/>
            <a:ext cx="52920" cy="2725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32"/>
          <p:cNvSpPr/>
          <p:nvPr/>
        </p:nvSpPr>
        <p:spPr>
          <a:xfrm>
            <a:off x="438840" y="40050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구매 신청 확인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Shape 33"/>
          <p:cNvSpPr/>
          <p:nvPr/>
        </p:nvSpPr>
        <p:spPr>
          <a:xfrm>
            <a:off x="274320" y="425196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Shape 34"/>
          <p:cNvSpPr/>
          <p:nvPr/>
        </p:nvSpPr>
        <p:spPr>
          <a:xfrm>
            <a:off x="274320" y="4251960"/>
            <a:ext cx="52920" cy="2725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438840" y="428868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마이페이지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Shape 36"/>
          <p:cNvSpPr/>
          <p:nvPr/>
        </p:nvSpPr>
        <p:spPr>
          <a:xfrm>
            <a:off x="4754880" y="1234440"/>
            <a:ext cx="4113000" cy="29088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4864680" y="1280160"/>
            <a:ext cx="39301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 </a:t>
            </a:r>
            <a:r>
              <a:rPr lang="ko-K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마이페이지 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4754880" y="1554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Shape 39"/>
          <p:cNvSpPr/>
          <p:nvPr/>
        </p:nvSpPr>
        <p:spPr>
          <a:xfrm>
            <a:off x="4754880" y="155448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Text 40"/>
          <p:cNvSpPr/>
          <p:nvPr/>
        </p:nvSpPr>
        <p:spPr>
          <a:xfrm>
            <a:off x="4919400" y="15912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구매 현황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Shape 41"/>
          <p:cNvSpPr/>
          <p:nvPr/>
        </p:nvSpPr>
        <p:spPr>
          <a:xfrm>
            <a:off x="4754880" y="183780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Shape 42"/>
          <p:cNvSpPr/>
          <p:nvPr/>
        </p:nvSpPr>
        <p:spPr>
          <a:xfrm>
            <a:off x="4754880" y="183780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Text 43"/>
          <p:cNvSpPr/>
          <p:nvPr/>
        </p:nvSpPr>
        <p:spPr>
          <a:xfrm>
            <a:off x="4919400" y="18745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거래 확정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Shape 44"/>
          <p:cNvSpPr/>
          <p:nvPr/>
        </p:nvSpPr>
        <p:spPr>
          <a:xfrm>
            <a:off x="4754880" y="2121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Shape 45"/>
          <p:cNvSpPr/>
          <p:nvPr/>
        </p:nvSpPr>
        <p:spPr>
          <a:xfrm>
            <a:off x="4754880" y="212148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Text 46"/>
          <p:cNvSpPr/>
          <p:nvPr/>
        </p:nvSpPr>
        <p:spPr>
          <a:xfrm>
            <a:off x="4919400" y="21578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Shape 47"/>
          <p:cNvSpPr/>
          <p:nvPr/>
        </p:nvSpPr>
        <p:spPr>
          <a:xfrm>
            <a:off x="4754880" y="240480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Shape 48"/>
          <p:cNvSpPr/>
          <p:nvPr/>
        </p:nvSpPr>
        <p:spPr>
          <a:xfrm>
            <a:off x="4754880" y="240480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49"/>
          <p:cNvSpPr/>
          <p:nvPr/>
        </p:nvSpPr>
        <p:spPr>
          <a:xfrm>
            <a:off x="4919400" y="24415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판매 현황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Shape 50"/>
          <p:cNvSpPr/>
          <p:nvPr/>
        </p:nvSpPr>
        <p:spPr>
          <a:xfrm>
            <a:off x="4754880" y="26884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Shape 51"/>
          <p:cNvSpPr/>
          <p:nvPr/>
        </p:nvSpPr>
        <p:spPr>
          <a:xfrm>
            <a:off x="4754880" y="268848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Text 52"/>
          <p:cNvSpPr/>
          <p:nvPr/>
        </p:nvSpPr>
        <p:spPr>
          <a:xfrm>
            <a:off x="4919400" y="27248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 dirty="0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판매 상품 관리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Shape 53"/>
          <p:cNvSpPr/>
          <p:nvPr/>
        </p:nvSpPr>
        <p:spPr>
          <a:xfrm>
            <a:off x="4754880" y="297180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Shape 54"/>
          <p:cNvSpPr/>
          <p:nvPr/>
        </p:nvSpPr>
        <p:spPr>
          <a:xfrm>
            <a:off x="4754880" y="297180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55"/>
          <p:cNvSpPr/>
          <p:nvPr/>
        </p:nvSpPr>
        <p:spPr>
          <a:xfrm>
            <a:off x="4919400" y="30085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즐겨찾기 카테고리 관리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Shape 56"/>
          <p:cNvSpPr/>
          <p:nvPr/>
        </p:nvSpPr>
        <p:spPr>
          <a:xfrm>
            <a:off x="4754880" y="325512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Shape 57"/>
          <p:cNvSpPr/>
          <p:nvPr/>
        </p:nvSpPr>
        <p:spPr>
          <a:xfrm>
            <a:off x="4754880" y="3255120"/>
            <a:ext cx="52920" cy="27252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58"/>
          <p:cNvSpPr/>
          <p:nvPr/>
        </p:nvSpPr>
        <p:spPr>
          <a:xfrm>
            <a:off x="4919400" y="32918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알림 확인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Shape 59"/>
          <p:cNvSpPr/>
          <p:nvPr/>
        </p:nvSpPr>
        <p:spPr>
          <a:xfrm>
            <a:off x="4754880" y="3648600"/>
            <a:ext cx="4113000" cy="290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60"/>
          <p:cNvSpPr/>
          <p:nvPr/>
        </p:nvSpPr>
        <p:spPr>
          <a:xfrm>
            <a:off x="4864680" y="3694320"/>
            <a:ext cx="39301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 ADMIN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Shape 61"/>
          <p:cNvSpPr/>
          <p:nvPr/>
        </p:nvSpPr>
        <p:spPr>
          <a:xfrm>
            <a:off x="4754880" y="396864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Shape 62"/>
          <p:cNvSpPr/>
          <p:nvPr/>
        </p:nvSpPr>
        <p:spPr>
          <a:xfrm>
            <a:off x="4754880" y="3968640"/>
            <a:ext cx="52920" cy="272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Text 63"/>
          <p:cNvSpPr/>
          <p:nvPr/>
        </p:nvSpPr>
        <p:spPr>
          <a:xfrm>
            <a:off x="4919400" y="40050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관리자 메인 메뉴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Shape 64"/>
          <p:cNvSpPr/>
          <p:nvPr/>
        </p:nvSpPr>
        <p:spPr>
          <a:xfrm>
            <a:off x="4754880" y="425196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Shape 65"/>
          <p:cNvSpPr/>
          <p:nvPr/>
        </p:nvSpPr>
        <p:spPr>
          <a:xfrm>
            <a:off x="4754880" y="4251960"/>
            <a:ext cx="52920" cy="272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Text 66"/>
          <p:cNvSpPr/>
          <p:nvPr/>
        </p:nvSpPr>
        <p:spPr>
          <a:xfrm>
            <a:off x="4919400" y="428868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취소요청 목록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Shape 67"/>
          <p:cNvSpPr/>
          <p:nvPr/>
        </p:nvSpPr>
        <p:spPr>
          <a:xfrm>
            <a:off x="4754880" y="4535280"/>
            <a:ext cx="41130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Shape 68"/>
          <p:cNvSpPr/>
          <p:nvPr/>
        </p:nvSpPr>
        <p:spPr>
          <a:xfrm>
            <a:off x="4754880" y="4535280"/>
            <a:ext cx="52920" cy="272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Text 69"/>
          <p:cNvSpPr/>
          <p:nvPr/>
        </p:nvSpPr>
        <p:spPr>
          <a:xfrm>
            <a:off x="4919400" y="457200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회원 목록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차단 관리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Shape 70"/>
          <p:cNvSpPr/>
          <p:nvPr/>
        </p:nvSpPr>
        <p:spPr>
          <a:xfrm>
            <a:off x="4754880" y="4818960"/>
            <a:ext cx="41130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Shape 71"/>
          <p:cNvSpPr/>
          <p:nvPr/>
        </p:nvSpPr>
        <p:spPr>
          <a:xfrm>
            <a:off x="4754880" y="4818960"/>
            <a:ext cx="52920" cy="272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8" name="Text 72"/>
          <p:cNvSpPr/>
          <p:nvPr/>
        </p:nvSpPr>
        <p:spPr>
          <a:xfrm>
            <a:off x="4919400" y="48553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 관리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비로그인 메인 메뉴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비로그인 메인 메뉴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비로그인 메인 화면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457200" y="1572840"/>
            <a:ext cx="438732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💻  중고 컴퓨터 거래 사이트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상품 전체 목록 보기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2.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카테고리별 검색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3.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상품번호로 검색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4.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로그인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5.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회원가입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6.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종료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선택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Shape 26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화면 설명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Shape 28"/>
          <p:cNvSpPr/>
          <p:nvPr/>
        </p:nvSpPr>
        <p:spPr>
          <a:xfrm>
            <a:off x="5394960" y="1572840"/>
            <a:ext cx="173556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5468040" y="160020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기능 설명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Shape 30"/>
          <p:cNvSpPr/>
          <p:nvPr/>
        </p:nvSpPr>
        <p:spPr>
          <a:xfrm>
            <a:off x="5394960" y="1892880"/>
            <a:ext cx="89640" cy="89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5550480" y="18561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로그인 없이 접근 가능한 최초 진입 화면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Shape 32"/>
          <p:cNvSpPr/>
          <p:nvPr/>
        </p:nvSpPr>
        <p:spPr>
          <a:xfrm>
            <a:off x="5394960" y="2240280"/>
            <a:ext cx="89640" cy="89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5550480" y="22035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상품 조회는 비로그인 상태에서도 가능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5394960" y="2587680"/>
            <a:ext cx="89640" cy="896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5550480" y="255132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구매</a:t>
            </a:r>
            <a:r>
              <a:rPr lang="en-US" sz="100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00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판매는 로그인 후 이용 가능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Shape 36"/>
          <p:cNvSpPr/>
          <p:nvPr/>
        </p:nvSpPr>
        <p:spPr>
          <a:xfrm>
            <a:off x="5394960" y="2999160"/>
            <a:ext cx="173556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5468040" y="302652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메뉴 구성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Shape 38"/>
          <p:cNvSpPr/>
          <p:nvPr/>
        </p:nvSpPr>
        <p:spPr>
          <a:xfrm>
            <a:off x="5394960" y="3291840"/>
            <a:ext cx="21780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5394960" y="329184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Text 40"/>
          <p:cNvSpPr/>
          <p:nvPr/>
        </p:nvSpPr>
        <p:spPr>
          <a:xfrm>
            <a:off x="5687640" y="329184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전체 목록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Shape 41"/>
          <p:cNvSpPr/>
          <p:nvPr/>
        </p:nvSpPr>
        <p:spPr>
          <a:xfrm>
            <a:off x="5394960" y="3566160"/>
            <a:ext cx="21780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42"/>
          <p:cNvSpPr/>
          <p:nvPr/>
        </p:nvSpPr>
        <p:spPr>
          <a:xfrm>
            <a:off x="5394960" y="356616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43"/>
          <p:cNvSpPr/>
          <p:nvPr/>
        </p:nvSpPr>
        <p:spPr>
          <a:xfrm>
            <a:off x="5687640" y="356616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카테고리별 검색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Shape 44"/>
          <p:cNvSpPr/>
          <p:nvPr/>
        </p:nvSpPr>
        <p:spPr>
          <a:xfrm>
            <a:off x="5394960" y="3840480"/>
            <a:ext cx="21780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45"/>
          <p:cNvSpPr/>
          <p:nvPr/>
        </p:nvSpPr>
        <p:spPr>
          <a:xfrm>
            <a:off x="5394960" y="384048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Text 46"/>
          <p:cNvSpPr/>
          <p:nvPr/>
        </p:nvSpPr>
        <p:spPr>
          <a:xfrm>
            <a:off x="5687640" y="384048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상품번호로 검색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Shape 47"/>
          <p:cNvSpPr/>
          <p:nvPr/>
        </p:nvSpPr>
        <p:spPr>
          <a:xfrm>
            <a:off x="5394960" y="4114800"/>
            <a:ext cx="217800" cy="21780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Text 48"/>
          <p:cNvSpPr/>
          <p:nvPr/>
        </p:nvSpPr>
        <p:spPr>
          <a:xfrm>
            <a:off x="5394960" y="411480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Text 49"/>
          <p:cNvSpPr/>
          <p:nvPr/>
        </p:nvSpPr>
        <p:spPr>
          <a:xfrm>
            <a:off x="5687640" y="411480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Shape 50"/>
          <p:cNvSpPr/>
          <p:nvPr/>
        </p:nvSpPr>
        <p:spPr>
          <a:xfrm>
            <a:off x="5394960" y="4389120"/>
            <a:ext cx="217800" cy="21780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 51"/>
          <p:cNvSpPr/>
          <p:nvPr/>
        </p:nvSpPr>
        <p:spPr>
          <a:xfrm>
            <a:off x="5394960" y="438912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Text 52"/>
          <p:cNvSpPr/>
          <p:nvPr/>
        </p:nvSpPr>
        <p:spPr>
          <a:xfrm>
            <a:off x="5687640" y="438912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회원가입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Shape 53"/>
          <p:cNvSpPr/>
          <p:nvPr/>
        </p:nvSpPr>
        <p:spPr>
          <a:xfrm>
            <a:off x="5394960" y="4663440"/>
            <a:ext cx="217800" cy="21780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Text 54"/>
          <p:cNvSpPr/>
          <p:nvPr/>
        </p:nvSpPr>
        <p:spPr>
          <a:xfrm>
            <a:off x="5394960" y="466344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Text 55"/>
          <p:cNvSpPr/>
          <p:nvPr/>
        </p:nvSpPr>
        <p:spPr>
          <a:xfrm>
            <a:off x="5687640" y="4663440"/>
            <a:ext cx="31071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종료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로그인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회원가입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SCR-002 / SCR-003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회원가입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274320" y="1188720"/>
            <a:ext cx="402156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274320" y="1188720"/>
            <a:ext cx="402156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411480" y="12344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로그인  (SCR-002)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457200" y="1572840"/>
            <a:ext cx="365580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548640" y="171000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548640" y="193392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💻  로그인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548640" y="21578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Text 17"/>
          <p:cNvSpPr/>
          <p:nvPr/>
        </p:nvSpPr>
        <p:spPr>
          <a:xfrm>
            <a:off x="548640" y="238212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아이디  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548640" y="26060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비밀번호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19"/>
          <p:cNvSpPr/>
          <p:nvPr/>
        </p:nvSpPr>
        <p:spPr>
          <a:xfrm>
            <a:off x="548640" y="28299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Text 20"/>
          <p:cNvSpPr/>
          <p:nvPr/>
        </p:nvSpPr>
        <p:spPr>
          <a:xfrm>
            <a:off x="548640" y="30542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로그인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548640" y="32781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548640" y="350208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23"/>
          <p:cNvSpPr/>
          <p:nvPr/>
        </p:nvSpPr>
        <p:spPr>
          <a:xfrm>
            <a:off x="548640" y="37263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24"/>
          <p:cNvSpPr/>
          <p:nvPr/>
        </p:nvSpPr>
        <p:spPr>
          <a:xfrm>
            <a:off x="548640" y="395028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  ❌ 차단된 계정입니다 (</a:t>
            </a:r>
            <a:r>
              <a:rPr lang="ko-KR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차단 시</a:t>
            </a: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4663440" y="1188720"/>
            <a:ext cx="402156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4663440" y="1188720"/>
            <a:ext cx="402156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4800600" y="123444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회원가입  (SCR-003)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Shape 28"/>
          <p:cNvSpPr/>
          <p:nvPr/>
        </p:nvSpPr>
        <p:spPr>
          <a:xfrm>
            <a:off x="4846320" y="1572840"/>
            <a:ext cx="365580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Shape 29"/>
          <p:cNvSpPr/>
          <p:nvPr/>
        </p:nvSpPr>
        <p:spPr>
          <a:xfrm>
            <a:off x="493776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Shape 30"/>
          <p:cNvSpPr/>
          <p:nvPr/>
        </p:nvSpPr>
        <p:spPr>
          <a:xfrm>
            <a:off x="508392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523044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Text 32"/>
          <p:cNvSpPr/>
          <p:nvPr/>
        </p:nvSpPr>
        <p:spPr>
          <a:xfrm>
            <a:off x="4937760" y="171000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Text 33"/>
          <p:cNvSpPr/>
          <p:nvPr/>
        </p:nvSpPr>
        <p:spPr>
          <a:xfrm>
            <a:off x="4937760" y="193392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💻  회원가입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Text 34"/>
          <p:cNvSpPr/>
          <p:nvPr/>
        </p:nvSpPr>
        <p:spPr>
          <a:xfrm>
            <a:off x="4937760" y="21578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35"/>
          <p:cNvSpPr/>
          <p:nvPr/>
        </p:nvSpPr>
        <p:spPr>
          <a:xfrm>
            <a:off x="4937760" y="238212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아이디  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4937760" y="26060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비밀번호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4937760" y="28299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Text 38"/>
          <p:cNvSpPr/>
          <p:nvPr/>
        </p:nvSpPr>
        <p:spPr>
          <a:xfrm>
            <a:off x="4937760" y="305424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가입하기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39"/>
          <p:cNvSpPr/>
          <p:nvPr/>
        </p:nvSpPr>
        <p:spPr>
          <a:xfrm>
            <a:off x="4937760" y="32781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40"/>
          <p:cNvSpPr/>
          <p:nvPr/>
        </p:nvSpPr>
        <p:spPr>
          <a:xfrm>
            <a:off x="4937760" y="350208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Text 41"/>
          <p:cNvSpPr/>
          <p:nvPr/>
        </p:nvSpPr>
        <p:spPr>
          <a:xfrm>
            <a:off x="4937760" y="372636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42"/>
          <p:cNvSpPr/>
          <p:nvPr/>
        </p:nvSpPr>
        <p:spPr>
          <a:xfrm>
            <a:off x="4937760" y="3950280"/>
            <a:ext cx="347292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  ❌ 이미 존재하는 아이디입니다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Shape 43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Shape 44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Text 45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비밀번호는  암호화 저장(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구현 필요하다 판단시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)  | 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차단된 계정 로그인 시도 시 즉시 차단 안내 메시지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상품 목록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카테고리 검색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SCR-004 / SCR-005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목록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카테고리별 검색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상품 전체 목록  (SCR-004)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457200" y="1572840"/>
            <a:ext cx="438732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📦  상품 목록  [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전체</a:t>
            </a: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번호  상품명          상태  가격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 RTX 4080     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상  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500,000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 RTX 3070 Ti  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중  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280,000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  GTX 1080     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하  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150,000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※ 거래중인 상품은 목록에서 제외됩니다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번호입력(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상세보기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) / 0. 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돌아가기 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Shape 25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Shape 26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카테고리별 검색  (SCR-005)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Shape 28"/>
          <p:cNvSpPr/>
          <p:nvPr/>
        </p:nvSpPr>
        <p:spPr>
          <a:xfrm>
            <a:off x="5394960" y="1572840"/>
            <a:ext cx="338148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Shape 29"/>
          <p:cNvSpPr/>
          <p:nvPr/>
        </p:nvSpPr>
        <p:spPr>
          <a:xfrm>
            <a:off x="54864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Shape 30"/>
          <p:cNvSpPr/>
          <p:nvPr/>
        </p:nvSpPr>
        <p:spPr>
          <a:xfrm>
            <a:off x="56325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Shape 31"/>
          <p:cNvSpPr/>
          <p:nvPr/>
        </p:nvSpPr>
        <p:spPr>
          <a:xfrm>
            <a:off x="57790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Text 32"/>
          <p:cNvSpPr/>
          <p:nvPr/>
        </p:nvSpPr>
        <p:spPr>
          <a:xfrm>
            <a:off x="5486400" y="171000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카테고리를 선택하세요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5486400" y="193392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34"/>
          <p:cNvSpPr/>
          <p:nvPr/>
        </p:nvSpPr>
        <p:spPr>
          <a:xfrm>
            <a:off x="5486400" y="215784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본체    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모니터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5486400" y="238212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3.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키보드  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4.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마우스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36"/>
          <p:cNvSpPr/>
          <p:nvPr/>
        </p:nvSpPr>
        <p:spPr>
          <a:xfrm>
            <a:off x="5486400" y="260604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5.  RAM       6.  </a:t>
            </a:r>
            <a:r>
              <a:rPr lang="ko-KR" altLang="en-US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기타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Text 41"/>
          <p:cNvSpPr/>
          <p:nvPr/>
        </p:nvSpPr>
        <p:spPr>
          <a:xfrm>
            <a:off x="5486400" y="372636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Text 42"/>
          <p:cNvSpPr/>
          <p:nvPr/>
        </p:nvSpPr>
        <p:spPr>
          <a:xfrm>
            <a:off x="5486400" y="395028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선택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Shape 43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Shape 44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Text 45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비로그인 / USER / ADMIN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모두 동일한 화면 사용 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| 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목록에는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ON_SALE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상태 상품만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상품 상세보기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SCR-006 / SCR-007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상세보기 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비로그인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 후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비로그인 상태  (SCR-006)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Shape 10"/>
          <p:cNvSpPr/>
          <p:nvPr/>
        </p:nvSpPr>
        <p:spPr>
          <a:xfrm>
            <a:off x="457200" y="1572840"/>
            <a:ext cx="3747240" cy="286956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📦  상품 상세보기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상품번호  : 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  :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그래픽카드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상품상태  :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가격  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설명      :  6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개월 사용 풀박스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판매자    :  hong***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⚠  구매하려면 로그인 필요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2" name="Text 25"/>
          <p:cNvSpPr/>
          <p:nvPr/>
        </p:nvSpPr>
        <p:spPr>
          <a:xfrm>
            <a:off x="54864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로그인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Shape 26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Shape 27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28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로그인 후 상태  (SCR-007)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Shape 29"/>
          <p:cNvSpPr/>
          <p:nvPr/>
        </p:nvSpPr>
        <p:spPr>
          <a:xfrm>
            <a:off x="4937760" y="1572840"/>
            <a:ext cx="3747240" cy="286956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Shape 30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Shape 31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Shape 32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Text 33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📦  상품 상세보기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34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Text 35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상품번호  : 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Text 36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  :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그래픽카드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Text 37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5" name="Text 38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상품상태  :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Text 39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가격  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40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판매자    :  hong***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Text 41"/>
          <p:cNvSpPr/>
          <p:nvPr/>
        </p:nvSpPr>
        <p:spPr>
          <a:xfrm>
            <a:off x="502920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Text 42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💰  내 잔액 : 1,000,000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0" name="Text 43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Text 44"/>
          <p:cNvSpPr/>
          <p:nvPr/>
        </p:nvSpPr>
        <p:spPr>
          <a:xfrm>
            <a:off x="502920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구매신청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Shape 45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Shape 46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Text 47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RESERVED / SOLD /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없는 번호 입력 시 →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'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존재하지 않거나 거래중인 상품입니다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'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동일 메시지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구매 신청 확인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구매 신청 확인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결과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구매 신청 확인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457200" y="1572840"/>
            <a:ext cx="374724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⚠  구매 신청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가격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잔액    :  1,000,000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결제 후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구매 신청 시 즉시 금액 차감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구매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Shape 25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결과 화면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4937760" y="1572840"/>
            <a:ext cx="374724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Shape 29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Shape 30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6" name="Shape 31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7" name="Text 32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 구매 신청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Text 34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Text 35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차감액  :  -500,000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Text 36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잔액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2" name="Text 37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Text 38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  ❌  잔액 부족 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Text 40"/>
          <p:cNvSpPr/>
          <p:nvPr/>
        </p:nvSpPr>
        <p:spPr>
          <a:xfrm>
            <a:off x="502920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Text 41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부족금액 : 300,000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Text 42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잔액충전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Text 43"/>
          <p:cNvSpPr/>
          <p:nvPr/>
        </p:nvSpPr>
        <p:spPr>
          <a:xfrm>
            <a:off x="274320" y="4645080"/>
            <a:ext cx="18270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거래 상태 변화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Shape 44"/>
          <p:cNvSpPr/>
          <p:nvPr/>
        </p:nvSpPr>
        <p:spPr>
          <a:xfrm>
            <a:off x="274320" y="4827960"/>
            <a:ext cx="1461240" cy="235800"/>
          </a:xfrm>
          <a:prstGeom prst="rect">
            <a:avLst/>
          </a:prstGeom>
          <a:solidFill>
            <a:srgbClr val="EFF2F5"/>
          </a:solidFill>
          <a:ln w="1905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Text 45"/>
          <p:cNvSpPr/>
          <p:nvPr/>
        </p:nvSpPr>
        <p:spPr>
          <a:xfrm>
            <a:off x="320040" y="4846320"/>
            <a:ext cx="1369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PENDING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49"/>
          <p:cNvSpPr/>
          <p:nvPr/>
        </p:nvSpPr>
        <p:spPr>
          <a:xfrm>
            <a:off x="1827720" y="4846320"/>
            <a:ext cx="3655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|  </a:t>
            </a: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구매자 신청</a:t>
            </a: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구매자가 구매함</a:t>
            </a: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로그인 후 메인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마이페이지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SCR-009 / SCR-010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USER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메인 메뉴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마이페이지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USER </a:t>
            </a:r>
            <a:r>
              <a:rPr lang="ko-KR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메인 메뉴  </a:t>
            </a: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(SCR-009)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Shape 10"/>
          <p:cNvSpPr/>
          <p:nvPr/>
        </p:nvSpPr>
        <p:spPr>
          <a:xfrm>
            <a:off x="457200" y="1572840"/>
            <a:ext cx="3747240" cy="2645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💻  중고 컴퓨터 거래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👤  hong123 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님  💰  </a:t>
            </a: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1,000,000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🔔  새 알림 2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건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9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0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상품 조회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상품 전체 목록 보기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2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2.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카테고리별 검색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3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3.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상품번호로 검색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기타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6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4.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마이페이지  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5.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로그아웃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7" name="Shape 25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8" name="Shape 26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Text 27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마이페이지  (SCR-010)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0" name="Shape 28"/>
          <p:cNvSpPr/>
          <p:nvPr/>
        </p:nvSpPr>
        <p:spPr>
          <a:xfrm>
            <a:off x="4937760" y="1572840"/>
            <a:ext cx="3747240" cy="30934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1" name="Shape 29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2" name="Shape 30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Shape 31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Text 32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👤  마이페이지  [hong123 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님</a:t>
            </a: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Text 33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💰  잔액 : 1,000,000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6" name="Text 34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Text 35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구매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  1.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내 구매 현황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8" name="Text 36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 37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판매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  2.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상품 등록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0" name="Text 38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 3.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내 판매 상품 관리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1" name="Text 39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 4.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내 판매 현황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3" name="Text 41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계정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  5.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알림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Text 42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 6.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잔액 충전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Text 43"/>
          <p:cNvSpPr/>
          <p:nvPr/>
        </p:nvSpPr>
        <p:spPr>
          <a:xfrm>
            <a:off x="502920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 7.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즐겨찾기 카테고리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6" name="Text 44"/>
          <p:cNvSpPr/>
          <p:nvPr/>
        </p:nvSpPr>
        <p:spPr>
          <a:xfrm>
            <a:off x="502920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내 구매 현황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0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구매 현황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내 구매 현황 메인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457200" y="1572840"/>
            <a:ext cx="4387320" cy="3989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1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🛒  내 구매 현황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2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3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거래중인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4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5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      500,000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6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상태 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거래 진행중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7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i9-13900K       400,000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8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상태 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 요청중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9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0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최근 완료된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1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Text 25"/>
          <p:cNvSpPr/>
          <p:nvPr/>
        </p:nvSpPr>
        <p:spPr>
          <a:xfrm>
            <a:off x="548640" y="41742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 GTX 1080  150,000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2024-01-10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3" name="Text 26"/>
          <p:cNvSpPr/>
          <p:nvPr/>
        </p:nvSpPr>
        <p:spPr>
          <a:xfrm>
            <a:off x="548640" y="4398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[4]  32GB DDR5  80,000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2024-01-05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4" name="Text 27"/>
          <p:cNvSpPr/>
          <p:nvPr/>
        </p:nvSpPr>
        <p:spPr>
          <a:xfrm>
            <a:off x="548640" y="46224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[5]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키보드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HHKB 200,000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원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2024-01-01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5" name="Text 28"/>
          <p:cNvSpPr/>
          <p:nvPr/>
        </p:nvSpPr>
        <p:spPr>
          <a:xfrm>
            <a:off x="548640" y="48463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6" name="Text 29"/>
          <p:cNvSpPr/>
          <p:nvPr/>
        </p:nvSpPr>
        <p:spPr>
          <a:xfrm>
            <a:off x="548640" y="5070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거래확정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취소요청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3.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전체이력조회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7" name="Text 30"/>
          <p:cNvSpPr/>
          <p:nvPr/>
        </p:nvSpPr>
        <p:spPr>
          <a:xfrm>
            <a:off x="548640" y="52945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8" name="Shape 31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9" name="Shape 32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0" name="Text 33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상태 표시 정의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1" name="Text 34"/>
          <p:cNvSpPr/>
          <p:nvPr/>
        </p:nvSpPr>
        <p:spPr>
          <a:xfrm>
            <a:off x="5394960" y="1572840"/>
            <a:ext cx="338148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DB </a:t>
            </a:r>
            <a:r>
              <a:rPr lang="ko-KR" sz="850" b="0" u="none" strike="noStrike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상태  →  화면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Shape 35"/>
          <p:cNvSpPr/>
          <p:nvPr/>
        </p:nvSpPr>
        <p:spPr>
          <a:xfrm>
            <a:off x="5394960" y="1874520"/>
            <a:ext cx="1461240" cy="235800"/>
          </a:xfrm>
          <a:prstGeom prst="rect">
            <a:avLst/>
          </a:prstGeom>
          <a:solidFill>
            <a:srgbClr val="EFF2F5"/>
          </a:solidFill>
          <a:ln w="1905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3" name="Text 36"/>
          <p:cNvSpPr/>
          <p:nvPr/>
        </p:nvSpPr>
        <p:spPr>
          <a:xfrm>
            <a:off x="5440680" y="1892880"/>
            <a:ext cx="1369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PENDING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4" name="Text 37"/>
          <p:cNvSpPr/>
          <p:nvPr/>
        </p:nvSpPr>
        <p:spPr>
          <a:xfrm>
            <a:off x="6949440" y="1892880"/>
            <a:ext cx="182700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→  거래 진행중(</a:t>
            </a:r>
            <a:r>
              <a:rPr lang="ko-KR" sz="10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대기상태</a:t>
            </a:r>
            <a:r>
              <a:rPr lang="en-US" sz="10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5" name="Shape 38"/>
          <p:cNvSpPr/>
          <p:nvPr/>
        </p:nvSpPr>
        <p:spPr>
          <a:xfrm>
            <a:off x="5394960" y="2377440"/>
            <a:ext cx="1461240" cy="235800"/>
          </a:xfrm>
          <a:prstGeom prst="rect">
            <a:avLst/>
          </a:prstGeom>
          <a:solidFill>
            <a:srgbClr val="EFF2F5"/>
          </a:solidFill>
          <a:ln w="1905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6" name="Text 39"/>
          <p:cNvSpPr/>
          <p:nvPr/>
        </p:nvSpPr>
        <p:spPr>
          <a:xfrm>
            <a:off x="5440680" y="2395800"/>
            <a:ext cx="1369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CANCEL_REQUEST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7" name="Text 40"/>
          <p:cNvSpPr/>
          <p:nvPr/>
        </p:nvSpPr>
        <p:spPr>
          <a:xfrm>
            <a:off x="6949440" y="2395800"/>
            <a:ext cx="182700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→  취소 요청중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Shape 41"/>
          <p:cNvSpPr/>
          <p:nvPr/>
        </p:nvSpPr>
        <p:spPr>
          <a:xfrm>
            <a:off x="5394960" y="3134520"/>
            <a:ext cx="1461240" cy="235800"/>
          </a:xfrm>
          <a:prstGeom prst="rect">
            <a:avLst/>
          </a:prstGeom>
          <a:solidFill>
            <a:srgbClr val="EFF2F5"/>
          </a:solidFill>
          <a:ln w="1905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9" name="Text 42"/>
          <p:cNvSpPr/>
          <p:nvPr/>
        </p:nvSpPr>
        <p:spPr>
          <a:xfrm>
            <a:off x="5440680" y="3152880"/>
            <a:ext cx="1369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COMPLETED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0" name="Text 43"/>
          <p:cNvSpPr/>
          <p:nvPr/>
        </p:nvSpPr>
        <p:spPr>
          <a:xfrm>
            <a:off x="6949440" y="3152880"/>
            <a:ext cx="182700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→  거래 완료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1" name="Shape 44"/>
          <p:cNvSpPr/>
          <p:nvPr/>
        </p:nvSpPr>
        <p:spPr>
          <a:xfrm>
            <a:off x="5394960" y="3520440"/>
            <a:ext cx="173556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2" name="Text 45"/>
          <p:cNvSpPr/>
          <p:nvPr/>
        </p:nvSpPr>
        <p:spPr>
          <a:xfrm>
            <a:off x="5468040" y="354780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메뉴 기능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3" name="Shape 46"/>
          <p:cNvSpPr/>
          <p:nvPr/>
        </p:nvSpPr>
        <p:spPr>
          <a:xfrm>
            <a:off x="5394960" y="3822120"/>
            <a:ext cx="217800" cy="21780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4" name="Text 47"/>
          <p:cNvSpPr/>
          <p:nvPr/>
        </p:nvSpPr>
        <p:spPr>
          <a:xfrm>
            <a:off x="5394960" y="382212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5" name="Text 48"/>
          <p:cNvSpPr/>
          <p:nvPr/>
        </p:nvSpPr>
        <p:spPr>
          <a:xfrm>
            <a:off x="5687640" y="3822120"/>
            <a:ext cx="1369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거래 확정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6" name="Text 49"/>
          <p:cNvSpPr/>
          <p:nvPr/>
        </p:nvSpPr>
        <p:spPr>
          <a:xfrm>
            <a:off x="7086600" y="3822120"/>
            <a:ext cx="17355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PENDING</a:t>
            </a:r>
            <a:r>
              <a:rPr lang="ko-KR" sz="85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만 가능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Shape 50"/>
          <p:cNvSpPr/>
          <p:nvPr/>
        </p:nvSpPr>
        <p:spPr>
          <a:xfrm>
            <a:off x="5394960" y="4123800"/>
            <a:ext cx="217800" cy="21780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8" name="Text 51"/>
          <p:cNvSpPr/>
          <p:nvPr/>
        </p:nvSpPr>
        <p:spPr>
          <a:xfrm>
            <a:off x="5394960" y="412380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9" name="Text 52"/>
          <p:cNvSpPr/>
          <p:nvPr/>
        </p:nvSpPr>
        <p:spPr>
          <a:xfrm>
            <a:off x="5687640" y="4123800"/>
            <a:ext cx="1369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0" name="Text 53"/>
          <p:cNvSpPr/>
          <p:nvPr/>
        </p:nvSpPr>
        <p:spPr>
          <a:xfrm>
            <a:off x="7086600" y="4123800"/>
            <a:ext cx="17355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PENDING</a:t>
            </a:r>
            <a:r>
              <a:rPr lang="ko-KR" sz="85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만 가능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1" name="Shape 54"/>
          <p:cNvSpPr/>
          <p:nvPr/>
        </p:nvSpPr>
        <p:spPr>
          <a:xfrm>
            <a:off x="5394960" y="4425840"/>
            <a:ext cx="21780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2" name="Text 55"/>
          <p:cNvSpPr/>
          <p:nvPr/>
        </p:nvSpPr>
        <p:spPr>
          <a:xfrm>
            <a:off x="5394960" y="4425840"/>
            <a:ext cx="217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3" name="Text 56"/>
          <p:cNvSpPr/>
          <p:nvPr/>
        </p:nvSpPr>
        <p:spPr>
          <a:xfrm>
            <a:off x="5687640" y="4425840"/>
            <a:ext cx="136980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전체 이력 조회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Text 57"/>
          <p:cNvSpPr/>
          <p:nvPr/>
        </p:nvSpPr>
        <p:spPr>
          <a:xfrm>
            <a:off x="7086600" y="4425840"/>
            <a:ext cx="17355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전체 내역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Shape 23"/>
          <p:cNvSpPr/>
          <p:nvPr/>
        </p:nvSpPr>
        <p:spPr>
          <a:xfrm>
            <a:off x="5394960" y="2751120"/>
            <a:ext cx="1461240" cy="235800"/>
          </a:xfrm>
          <a:prstGeom prst="rect">
            <a:avLst/>
          </a:prstGeom>
          <a:solidFill>
            <a:srgbClr val="EFF2F5"/>
          </a:solidFill>
          <a:ln w="1905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Text 4"/>
          <p:cNvSpPr/>
          <p:nvPr/>
        </p:nvSpPr>
        <p:spPr>
          <a:xfrm>
            <a:off x="5440680" y="2769480"/>
            <a:ext cx="136980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CANCEL_COMPLETED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Text 8"/>
          <p:cNvSpPr/>
          <p:nvPr/>
        </p:nvSpPr>
        <p:spPr>
          <a:xfrm>
            <a:off x="6949440" y="2769480"/>
            <a:ext cx="182700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→  취소 완료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1" name="Shape_CANCEL_REJECTED_label"/>
          <p:cNvSpPr/>
          <p:nvPr/>
        </p:nvSpPr>
        <p:spPr>
          <a:xfrm>
            <a:off x="5440680" y="3526560"/>
            <a:ext cx="1461240" cy="235800"/>
          </a:xfrm>
          <a:prstGeom prst="rect">
            <a:avLst/>
          </a:prstGeom>
          <a:solidFill>
            <a:srgbClr val="FFF3E0"/>
          </a:solidFill>
          <a:ln w="1905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CANCEL_REJECTED</a:t>
            </a:r>
          </a:p>
        </p:txBody>
      </p:sp>
      <p:sp>
        <p:nvSpPr>
          <p:cNvPr id="902" name="Text_CANCEL_REJECTED_arrow"/>
          <p:cNvSpPr/>
          <p:nvPr/>
        </p:nvSpPr>
        <p:spPr>
          <a:xfrm>
            <a:off x="6949440" y="3526560"/>
            <a:ext cx="1827000" cy="3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→  판매자 거절 (관리자 검토중)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거래 확정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취소 요청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0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1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SCR-012 / SCR-013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거래 확정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4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6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거래 확정  (SCR-012)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8" name="Shape 10"/>
          <p:cNvSpPr/>
          <p:nvPr/>
        </p:nvSpPr>
        <p:spPr>
          <a:xfrm>
            <a:off x="457200" y="1572840"/>
            <a:ext cx="3747240" cy="35416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9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0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2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확정할 상품 번호 입력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진행중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 &gt;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6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⚠  거래 확정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7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8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가격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9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판매자  :  hong***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0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1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확정 후 취소 불가합니다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2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3" name="Text 25"/>
          <p:cNvSpPr/>
          <p:nvPr/>
        </p:nvSpPr>
        <p:spPr>
          <a:xfrm>
            <a:off x="54864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확정확인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4" name="Text 26"/>
          <p:cNvSpPr/>
          <p:nvPr/>
        </p:nvSpPr>
        <p:spPr>
          <a:xfrm>
            <a:off x="54864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────────────────────────────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5" name="Text 27"/>
          <p:cNvSpPr/>
          <p:nvPr/>
        </p:nvSpPr>
        <p:spPr>
          <a:xfrm>
            <a:off x="548640" y="46224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거래 확정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6" name="Text 28"/>
          <p:cNvSpPr/>
          <p:nvPr/>
        </p:nvSpPr>
        <p:spPr>
          <a:xfrm>
            <a:off x="548640" y="48463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hong*** +500,000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 입금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7" name="Shape 29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8" name="Shape 30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9" name="Text 31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취소 요청  (SCR-013)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0" name="Shape 32"/>
          <p:cNvSpPr/>
          <p:nvPr/>
        </p:nvSpPr>
        <p:spPr>
          <a:xfrm>
            <a:off x="4937760" y="1572840"/>
            <a:ext cx="3747240" cy="331740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1" name="Shape 33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92" name="Shape 34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93" name="Shape 35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94" name="Text 36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취소 요청할 상품 번호 입력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5" name="Text 37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진행중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Text 38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 &gt;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7" name="Text 39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8" name="Text 40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⚠  취소 요청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9" name="Text 41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0" name="Text 42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가격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1" name="Text 43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Text 44"/>
          <p:cNvSpPr/>
          <p:nvPr/>
        </p:nvSpPr>
        <p:spPr>
          <a:xfrm>
            <a:off x="502920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관리자 검토 후 환불됩니다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3" name="Text 45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4" name="Text 46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요청확인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5" name="Text 47"/>
          <p:cNvSpPr/>
          <p:nvPr/>
        </p:nvSpPr>
        <p:spPr>
          <a:xfrm>
            <a:off x="502920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────────────────────────────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6" name="Text 48"/>
          <p:cNvSpPr/>
          <p:nvPr/>
        </p:nvSpPr>
        <p:spPr>
          <a:xfrm>
            <a:off x="502920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취소 요청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7" name="Text 49"/>
          <p:cNvSpPr/>
          <p:nvPr/>
        </p:nvSpPr>
        <p:spPr>
          <a:xfrm>
            <a:off x="5029200" y="46224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관리자 검토 후 환불 진행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8" name="Shape 50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9" name="Shape 51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0" name="Text 52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거래 확정 시 판매자에게 즉시 입금  |  CANCEL_REQUEST / COMPLETED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상태에서는 메뉴 비활성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내 판매 현황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판매 상품 관리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3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4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SCR-014 / SCR-015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5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6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판매 현황 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판매 상품 관리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7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8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9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0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내 판매 현황  (SCR-014)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1" name="Shape 10"/>
          <p:cNvSpPr/>
          <p:nvPr/>
        </p:nvSpPr>
        <p:spPr>
          <a:xfrm>
            <a:off x="457200" y="1572840"/>
            <a:ext cx="3747240" cy="286956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2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3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4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5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💰  내 판매 현황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6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7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거래중인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8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진행중  ← 배송 처리 가능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9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i9-13900K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취소 요청중</a:t>
            </a:r>
            <a:r>
              <a:rPr lang="ko-KR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← 취소 요청 처리 가능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0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1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최근 완료된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 GTX 1080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완료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01-10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3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[4]  32GB DDR5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완료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01-05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4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[5]  HHKB    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완료  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01-01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5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6" name="Text 25"/>
          <p:cNvSpPr/>
          <p:nvPr/>
        </p:nvSpPr>
        <p:spPr>
          <a:xfrm>
            <a:off x="54864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배송 처리  2. 취소 요청 처리  3. 전체 이력 조회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7" name="Shape 26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8" name="Shape 27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9" name="Text 28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판매 상품 관리  (SCR-015)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0" name="Shape 29"/>
          <p:cNvSpPr/>
          <p:nvPr/>
        </p:nvSpPr>
        <p:spPr>
          <a:xfrm>
            <a:off x="4937760" y="1572840"/>
            <a:ext cx="3747240" cy="30934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1" name="Shape 30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2" name="Shape 31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3" name="Shape 32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4" name="Text 33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📦  내 판매 상품 관리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5" name="Text 34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6" name="Text 35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판매중인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7" name="Text 36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  500,000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판매중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8" name="Text 37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HHKB        200,000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판매중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9" name="Text 38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0" name="Text 39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거래중인 상품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1" name="Text 40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 i9-13900K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진행중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2" name="Text 41"/>
          <p:cNvSpPr/>
          <p:nvPr/>
        </p:nvSpPr>
        <p:spPr>
          <a:xfrm>
            <a:off x="502920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3" name="Text 42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최근 완료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4" name="Text 43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[5]  GTX 1080 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5" name="Text 44"/>
          <p:cNvSpPr/>
          <p:nvPr/>
        </p:nvSpPr>
        <p:spPr>
          <a:xfrm>
            <a:off x="502920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6" name="Text 45"/>
          <p:cNvSpPr/>
          <p:nvPr/>
        </p:nvSpPr>
        <p:spPr>
          <a:xfrm>
            <a:off x="502920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수정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삭제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3.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전체이력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뒤로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7" name="Shape 46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8" name="Shape 47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9" name="Text 48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수정/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삭제는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ON_SALE (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판매중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상태에서만 가능 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| 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거래중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완료 상품은 수정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삭제 불가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_HeaderBar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1" name="Text_HeaderTitle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배송 처리</a:t>
            </a:r>
          </a:p>
        </p:txBody>
      </p:sp>
      <p:sp>
        <p:nvSpPr>
          <p:cNvPr id="602" name="Shape_ScrBadge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3" name="Text_ScrBadge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SCR-016-S</a:t>
            </a:r>
          </a:p>
        </p:txBody>
      </p:sp>
      <p:sp>
        <p:nvSpPr>
          <p:cNvPr id="604" name="Shape_BlueBar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5" name="Text_SectionTitle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배송 처리 · 배송 완료 확인</a:t>
            </a:r>
          </a:p>
        </p:txBody>
      </p:sp>
      <p:sp>
        <p:nvSpPr>
          <p:cNvPr id="606" name="Shape_Divider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Shape_Breadcrumb_Bg"/>
          <p:cNvSpPr/>
          <p:nvPr/>
        </p:nvSpPr>
        <p:spPr>
          <a:xfrm>
            <a:off x="228600" y="1130000"/>
            <a:ext cx="8685000" cy="180000"/>
          </a:xfrm>
          <a:prstGeom prst="rect">
            <a:avLst/>
          </a:prstGeom>
          <a:solidFill>
            <a:srgbClr val="FFF8E1"/>
          </a:solidFill>
          <a:ln w="100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0000" rIns="90000" bIns="30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8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📍 접근 경로  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 후 메인 메뉴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(SCR-009)  </a:t>
            </a:r>
            <a:r>
              <a:rPr lang="ko-KR" sz="8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→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  내 판매 현황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(SCR-014)  </a:t>
            </a:r>
            <a:r>
              <a:rPr lang="ko-KR" sz="8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→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  📦 거래중인 상품 선택</a:t>
            </a:r>
            <a:r>
              <a:rPr lang="ko-KR" sz="8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  →</a:t>
            </a:r>
            <a:r>
              <a:rPr lang="ko-KR" sz="800" b="1" u="none" strike="noStrike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  1. 배송 처리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(SCR-016-S)</a:t>
            </a:r>
          </a:p>
        </p:txBody>
      </p:sp>
      <p:sp>
        <p:nvSpPr>
          <p:cNvPr id="607" name="Text_LeftPanelLabel"/>
          <p:cNvSpPr/>
          <p:nvPr/>
        </p:nvSpPr>
        <p:spPr>
          <a:xfrm>
            <a:off x="228600" y="1340000"/>
            <a:ext cx="41148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── 배송 처리  (SCR-016-S)</a:t>
            </a:r>
          </a:p>
        </p:txBody>
      </p:sp>
      <p:sp>
        <p:nvSpPr>
          <p:cNvPr id="608" name="Text_RightPanelLabel"/>
          <p:cNvSpPr/>
          <p:nvPr/>
        </p:nvSpPr>
        <p:spPr>
          <a:xfrm>
            <a:off x="4800600" y="1340000"/>
            <a:ext cx="41148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── 배송 확인 결과</a:t>
            </a:r>
          </a:p>
        </p:txBody>
      </p:sp>
      <p:sp>
        <p:nvSpPr>
          <p:cNvPr id="609" name="Shape_LeftPanelBg"/>
          <p:cNvSpPr/>
          <p:nvPr/>
        </p:nvSpPr>
        <p:spPr>
          <a:xfrm>
            <a:off x="228600" y="1510000"/>
            <a:ext cx="4114800" cy="2400000"/>
          </a:xfrm>
          <a:prstGeom prst="rect">
            <a:avLst/>
          </a:prstGeom>
          <a:solidFill>
            <a:srgbClr val="F8F9FA"/>
          </a:solidFill>
          <a:ln w="180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0" name="Text_LeftPanelContent"/>
          <p:cNvSpPr/>
          <p:nvPr/>
        </p:nvSpPr>
        <p:spPr>
          <a:xfrm>
            <a:off x="273600" y="1555000"/>
            <a:ext cx="4024800" cy="231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🚚  배송 처리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  [PENDING — 배송 대기중]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[1]  RTX 4080    </a:t>
            </a:r>
            <a:r>
              <a:rPr lang="ko-KR" sz="850" b="0" u="none" strike="noStrike" dirty="0" err="1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hong</a:t>
            </a: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***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[2]  i9-13900K   </a:t>
            </a:r>
            <a:r>
              <a:rPr lang="ko-KR" sz="850" b="0" u="none" strike="noStrike" dirty="0" err="1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kim</a:t>
            </a: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***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  번호 입력 &gt; 1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구매자  :  </a:t>
            </a:r>
            <a:r>
              <a:rPr lang="ko-KR" sz="850" b="0" u="none" strike="noStrike" dirty="0" err="1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hong</a:t>
            </a: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***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가격    :  500,000원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배송 처리 후 중간 취소 불가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1. 배송 확인  0. 취소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</a:t>
            </a:r>
          </a:p>
        </p:txBody>
      </p:sp>
      <p:sp>
        <p:nvSpPr>
          <p:cNvPr id="620" name="Shape_RightPanelBg"/>
          <p:cNvSpPr/>
          <p:nvPr/>
        </p:nvSpPr>
        <p:spPr>
          <a:xfrm>
            <a:off x="4800600" y="1510000"/>
            <a:ext cx="4114800" cy="2400000"/>
          </a:xfrm>
          <a:prstGeom prst="rect">
            <a:avLst/>
          </a:prstGeom>
          <a:solidFill>
            <a:srgbClr val="F8F9FA"/>
          </a:solidFill>
          <a:ln w="180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1" name="Text_RightPanelContent"/>
          <p:cNvSpPr/>
          <p:nvPr/>
        </p:nvSpPr>
        <p:spPr>
          <a:xfrm>
            <a:off x="4845600" y="1555000"/>
            <a:ext cx="4024800" cy="231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 배송 처리 완료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구매자  :  </a:t>
            </a:r>
            <a:r>
              <a:rPr lang="ko-KR" sz="850" b="0" u="none" strike="noStrike" dirty="0" err="1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hong</a:t>
            </a: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***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상태 PENDING → SHIPPING</a:t>
            </a:r>
          </a:p>
          <a:p>
            <a:pPr defTabSz="457200">
              <a:lnSpc>
                <a:spcPct val="120000"/>
              </a:lnSpc>
            </a:pPr>
            <a:r>
              <a:rPr lang="ko-KR" sz="850" b="0" u="none" strike="noStrike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구매자에게 배송 알림 발송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 dirty="0">
                <a:solidFill>
                  <a:srgbClr val="DEE2E6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</a:t>
            </a:r>
          </a:p>
          <a:p>
            <a:pPr defTabSz="457200">
              <a:lnSpc>
                <a:spcPct val="120000"/>
              </a:lnSpc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</a:p>
        </p:txBody>
      </p:sp>
      <p:sp>
        <p:nvSpPr>
          <p:cNvPr id="630" name="Text_StateChange"/>
          <p:cNvSpPr/>
          <p:nvPr/>
        </p:nvSpPr>
        <p:spPr>
          <a:xfrm>
            <a:off x="228600" y="4101463"/>
            <a:ext cx="8685000" cy="600000"/>
          </a:xfrm>
          <a:prstGeom prst="rect">
            <a:avLst/>
          </a:prstGeom>
          <a:solidFill>
            <a:srgbClr val="EEF4FF"/>
          </a:solidFill>
          <a:ln w="180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000" rIns="90000" bIns="60000" anchor="ctr">
            <a:noAutofit/>
          </a:bodyPr>
          <a:lstStyle/>
          <a:p>
            <a:pPr defTabSz="914400">
              <a:lnSpc>
                <a:spcPct val="120000"/>
              </a:lnSpc>
            </a:pPr>
            <a:r>
              <a:rPr lang="ko-KR" sz="900" b="1" u="none" strike="noStrike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거래 상태 변화  </a:t>
            </a:r>
            <a:r>
              <a:rPr lang="en-US" sz="90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PENDING  →  SHIPPING</a:t>
            </a:r>
            <a:r>
              <a:rPr lang="ko-KR" sz="900" b="0" u="none" strike="noStrike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  |  판매자가 배송 확인 시 자동 상태 변경</a:t>
            </a:r>
          </a:p>
          <a:p>
            <a:pPr defTabSz="914400">
              <a:lnSpc>
                <a:spcPct val="120000"/>
              </a:lnSpc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맑은 고딕"/>
                <a:ea typeface="맑은 고딕"/>
              </a:rPr>
              <a:t>⚠  판매자만 접근 가능  |  PENDING 상태에서만 배송 처리 버튼 활성화  |  배송 후 구매자 거래 확정 대기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_HeaderBar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ko-KR" sz="18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701" name="Text_HeaderTitle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취소 요청 처리</a:t>
            </a:r>
          </a:p>
        </p:txBody>
      </p:sp>
      <p:sp>
        <p:nvSpPr>
          <p:cNvPr id="702" name="Shape_ScrBadge"/>
          <p:cNvSpPr/>
          <p:nvPr/>
        </p:nvSpPr>
        <p:spPr>
          <a:xfrm>
            <a:off x="7087320" y="100440"/>
            <a:ext cx="1826640" cy="290880"/>
          </a:xfrm>
          <a:prstGeom prst="rect">
            <a:avLst/>
          </a:prstGeom>
          <a:solidFill>
            <a:srgbClr val="E37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ko-KR" sz="18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703" name="Text_ScrBadge"/>
          <p:cNvSpPr/>
          <p:nvPr/>
        </p:nvSpPr>
        <p:spPr>
          <a:xfrm>
            <a:off x="7087320" y="100440"/>
            <a:ext cx="182664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SCR-016-C</a:t>
            </a:r>
          </a:p>
        </p:txBody>
      </p:sp>
      <p:sp>
        <p:nvSpPr>
          <p:cNvPr id="704" name="Shape_BlueBar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E37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ko-KR" sz="18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705" name="Text_SectionTitle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 처리 · 처리 결과</a:t>
            </a:r>
          </a:p>
        </p:txBody>
      </p:sp>
      <p:sp>
        <p:nvSpPr>
          <p:cNvPr id="706" name="Shape_Divider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ko-KR" sz="180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07" name="Shape_Breadcrumb"/>
          <p:cNvSpPr/>
          <p:nvPr/>
        </p:nvSpPr>
        <p:spPr>
          <a:xfrm>
            <a:off x="228600" y="1130000"/>
            <a:ext cx="8685000" cy="180000"/>
          </a:xfrm>
          <a:prstGeom prst="rect">
            <a:avLst/>
          </a:prstGeom>
          <a:solidFill>
            <a:srgbClr val="FFF8E1"/>
          </a:solidFill>
          <a:ln w="100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0000" rIns="90000" bIns="30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8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📍 접근 경로  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로그인 후 메인 메뉴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(SCR-009)  →  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내 판매 현황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(SCR-014)  →  </a:t>
            </a:r>
            <a:r>
              <a:rPr lang="ko-KR" sz="8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요청중 상품 선택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→  </a:t>
            </a:r>
            <a:r>
              <a:rPr lang="ko-KR" sz="800" b="1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2. 취소 요청 처리</a:t>
            </a:r>
            <a:r>
              <a:rPr lang="en-US" sz="800" b="0" u="none" strike="noStrike">
                <a:solidFill>
                  <a:srgbClr val="868E96"/>
                </a:solidFill>
                <a:effectLst/>
                <a:uFillTx/>
                <a:latin typeface="Calibri"/>
              </a:rPr>
              <a:t>  (SCR-016-C)</a:t>
            </a:r>
          </a:p>
        </p:txBody>
      </p:sp>
      <p:sp>
        <p:nvSpPr>
          <p:cNvPr id="708" name="Text_LeftPanelLabel"/>
          <p:cNvSpPr/>
          <p:nvPr/>
        </p:nvSpPr>
        <p:spPr>
          <a:xfrm>
            <a:off x="228600" y="1340000"/>
            <a:ext cx="41148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── 취소 요청 처리  (SCR-016-C)</a:t>
            </a:r>
          </a:p>
        </p:txBody>
      </p:sp>
      <p:sp>
        <p:nvSpPr>
          <p:cNvPr id="709" name="Text_RightPanelLabel"/>
          <p:cNvSpPr/>
          <p:nvPr/>
        </p:nvSpPr>
        <p:spPr>
          <a:xfrm>
            <a:off x="4800600" y="1340000"/>
            <a:ext cx="41148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── 처리 결과</a:t>
            </a:r>
          </a:p>
        </p:txBody>
      </p:sp>
      <p:sp>
        <p:nvSpPr>
          <p:cNvPr id="710" name="Shape_LeftPanelBg"/>
          <p:cNvSpPr/>
          <p:nvPr/>
        </p:nvSpPr>
        <p:spPr>
          <a:xfrm>
            <a:off x="228600" y="1510000"/>
            <a:ext cx="4114800" cy="255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ko-KR" sz="180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11" name="Text_LeftPanelContent"/>
          <p:cNvSpPr/>
          <p:nvPr/>
        </p:nvSpPr>
        <p:spPr>
          <a:xfrm>
            <a:off x="273600" y="1555000"/>
            <a:ext cx="4024800" cy="24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⚠️  취소 요청 처리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  [CANCEL_REQUEST — 취소 요청중]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E37400"/>
                </a:solidFill>
                <a:effectLst/>
                <a:uFillTx/>
                <a:latin typeface="Consolas"/>
              </a:rPr>
              <a:t>  [1]  RTX 4080    hong***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E37400"/>
                </a:solidFill>
                <a:effectLst/>
                <a:uFillTx/>
                <a:latin typeface="Consolas"/>
              </a:rPr>
              <a:t>  [2]  i9-13900K   kim***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  번호 입력 &gt; 1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구매자  :  hong***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가격    :  500,000원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동의  2. 거절  0. 취소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──────────────────────</a:t>
            </a:r>
          </a:p>
        </p:txBody>
      </p:sp>
      <p:sp>
        <p:nvSpPr>
          <p:cNvPr id="720" name="Shape_RightPanelBg"/>
          <p:cNvSpPr/>
          <p:nvPr/>
        </p:nvSpPr>
        <p:spPr>
          <a:xfrm>
            <a:off x="4800600" y="1510000"/>
            <a:ext cx="4114800" cy="255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ko-KR" sz="180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21" name="Text_RightPanelContent"/>
          <p:cNvSpPr/>
          <p:nvPr/>
        </p:nvSpPr>
        <p:spPr>
          <a:xfrm>
            <a:off x="4845600" y="1555000"/>
            <a:ext cx="4024800" cy="24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20000"/>
              </a:lnSpc>
            </a:pPr>
            <a:r>
              <a:rPr lang="ko-KR" sz="850" b="1" dirty="0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 [Case A] 판매자 동의 시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상태 CANCEL_REQUEST → CANCEL_COMPLETED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구매자에게 자동 환불 처리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──────────────────────</a:t>
            </a:r>
          </a:p>
          <a:p>
            <a:pPr defTabSz="457200">
              <a:lnSpc>
                <a:spcPct val="120000"/>
              </a:lnSpc>
            </a:pPr>
            <a:r>
              <a:rPr lang="ko-KR" sz="850" b="1" dirty="0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  ❌  [Case B] 판매자 거절 시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══════════════════════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상태 CANCEL_REQUEST → CANCEL_REJECTED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└ 관리자 취소요청 목록에 적재 (SCR-020)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  (관리자 승인 시 → CANCEL_COMPLETED / 환불 처리)</a:t>
            </a:r>
          </a:p>
          <a:p>
            <a:pPr defTabSz="457200">
              <a:lnSpc>
                <a:spcPct val="120000"/>
              </a:lnSpc>
            </a:pPr>
            <a:r>
              <a:rPr lang="en-US" sz="850" b="0" dirty="0">
                <a:solidFill>
                  <a:srgbClr val="DEE2E6"/>
                </a:solidFill>
                <a:effectLst/>
                <a:uFillTx/>
                <a:latin typeface="Consolas"/>
              </a:rPr>
              <a:t>──────────────────────</a:t>
            </a:r>
          </a:p>
          <a:p>
            <a:pPr defTabSz="457200">
              <a:lnSpc>
                <a:spcPct val="120000"/>
              </a:lnSpc>
            </a:pPr>
            <a:r>
              <a:rPr lang="ko-KR" sz="850" b="0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돌아가기</a:t>
            </a:r>
          </a:p>
        </p:txBody>
      </p:sp>
      <p:sp>
        <p:nvSpPr>
          <p:cNvPr id="730" name="Text_StateChange"/>
          <p:cNvSpPr/>
          <p:nvPr/>
        </p:nvSpPr>
        <p:spPr>
          <a:xfrm>
            <a:off x="228600" y="4101463"/>
            <a:ext cx="8685000" cy="630000"/>
          </a:xfrm>
          <a:prstGeom prst="rect">
            <a:avLst/>
          </a:prstGeom>
          <a:solidFill>
            <a:srgbClr val="EEF4FF"/>
          </a:solidFill>
          <a:ln w="180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000" rIns="90000" bIns="60000" anchor="ctr">
            <a:noAutofit/>
          </a:bodyPr>
          <a:lstStyle/>
          <a:p>
            <a:pPr defTabSz="914400">
              <a:lnSpc>
                <a:spcPct val="120000"/>
              </a:lnSpc>
            </a:pPr>
            <a:r>
              <a:rPr lang="ko-KR" sz="900" b="1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판매자 동의  </a:t>
            </a:r>
            <a:r>
              <a:rPr lang="en-US" sz="900" b="0">
                <a:solidFill>
                  <a:srgbClr val="1A73E8"/>
                </a:solidFill>
                <a:effectLst/>
                <a:uFillTx/>
                <a:latin typeface="Consolas"/>
              </a:rPr>
              <a:t>CANCEL_REQUEST → CANCEL_COMPLETED  </a:t>
            </a:r>
            <a:r>
              <a:rPr lang="ko-KR" sz="900" b="0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(구매자 자동 환불)  |  </a:t>
            </a:r>
            <a:r>
              <a:rPr lang="ko-KR" sz="900" b="1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판매자 거절  </a:t>
            </a:r>
            <a:r>
              <a:rPr lang="ko-KR" sz="900" b="0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관리자 환불 처리 대기 (CANCEL_REJECTED 상태로 전이)</a:t>
            </a:r>
          </a:p>
          <a:p>
            <a:pPr defTabSz="914400">
              <a:lnSpc>
                <a:spcPct val="120000"/>
              </a:lnSpc>
            </a:pPr>
            <a:r>
              <a:rPr lang="ko-KR" sz="900" b="0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⚠  판매자만 접근 가능  |  CANCEL_REQUEST 상태에서만 활성화  |  거절 시 CANCEL_REJECTED로 전이 후 SCR-020 목록에 자동 적재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상품 등록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2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3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4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5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등록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6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7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9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상품 등록 화면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457200" y="1572840"/>
            <a:ext cx="4387320" cy="376560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1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2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3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4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📝  상품 등록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5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6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 선택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본체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모니터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3.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키보드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4.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마우스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8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5.RAM   6.</a:t>
            </a:r>
            <a:r>
              <a:rPr lang="ko-KR" altLang="en-US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기타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9" name="Text 19"/>
          <p:cNvSpPr/>
          <p:nvPr/>
        </p:nvSpPr>
        <p:spPr>
          <a:xfrm>
            <a:off x="1556280" y="2607312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</a:t>
            </a:r>
            <a:r>
              <a:rPr lang="ko-KR" sz="850" b="0" u="none" strike="noStrike" dirty="0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0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1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선택 &gt; 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2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상품명  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3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가격    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4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상품상태  (1.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상  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2.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중  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3.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하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)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5" name="Text 25"/>
          <p:cNvSpPr/>
          <p:nvPr/>
        </p:nvSpPr>
        <p:spPr>
          <a:xfrm>
            <a:off x="548640" y="41742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설명      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6" name="Text 26"/>
          <p:cNvSpPr/>
          <p:nvPr/>
        </p:nvSpPr>
        <p:spPr>
          <a:xfrm>
            <a:off x="548640" y="4398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7" name="Text 27"/>
          <p:cNvSpPr/>
          <p:nvPr/>
        </p:nvSpPr>
        <p:spPr>
          <a:xfrm>
            <a:off x="548640" y="46224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등록 정보 확인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8" name="Text 28"/>
          <p:cNvSpPr/>
          <p:nvPr/>
        </p:nvSpPr>
        <p:spPr>
          <a:xfrm>
            <a:off x="548640" y="48463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그래픽카드  상태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9" name="Text 29"/>
          <p:cNvSpPr/>
          <p:nvPr/>
        </p:nvSpPr>
        <p:spPr>
          <a:xfrm>
            <a:off x="548640" y="5070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등록 확인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0" name="Shape 30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1" name="Shape 31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2" name="Text 32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입력 항목 정의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3" name="Shape 33"/>
          <p:cNvSpPr/>
          <p:nvPr/>
        </p:nvSpPr>
        <p:spPr>
          <a:xfrm>
            <a:off x="5394960" y="1572840"/>
            <a:ext cx="1186920" cy="254160"/>
          </a:xfrm>
          <a:prstGeom prst="rect">
            <a:avLst/>
          </a:prstGeom>
          <a:solidFill>
            <a:srgbClr val="1C2333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4" name="Text 34"/>
          <p:cNvSpPr/>
          <p:nvPr/>
        </p:nvSpPr>
        <p:spPr>
          <a:xfrm>
            <a:off x="5440680" y="1591200"/>
            <a:ext cx="109548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항목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5" name="Shape 35"/>
          <p:cNvSpPr/>
          <p:nvPr/>
        </p:nvSpPr>
        <p:spPr>
          <a:xfrm>
            <a:off x="6583680" y="1572840"/>
            <a:ext cx="1369800" cy="254160"/>
          </a:xfrm>
          <a:prstGeom prst="rect">
            <a:avLst/>
          </a:prstGeom>
          <a:solidFill>
            <a:srgbClr val="1C2333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6" name="Text 36"/>
          <p:cNvSpPr/>
          <p:nvPr/>
        </p:nvSpPr>
        <p:spPr>
          <a:xfrm>
            <a:off x="6629400" y="1591200"/>
            <a:ext cx="127836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타입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7" name="Shape 37"/>
          <p:cNvSpPr/>
          <p:nvPr/>
        </p:nvSpPr>
        <p:spPr>
          <a:xfrm>
            <a:off x="7955280" y="1572840"/>
            <a:ext cx="638280" cy="254160"/>
          </a:xfrm>
          <a:prstGeom prst="rect">
            <a:avLst/>
          </a:prstGeom>
          <a:solidFill>
            <a:srgbClr val="1C2333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8" name="Text 38"/>
          <p:cNvSpPr/>
          <p:nvPr/>
        </p:nvSpPr>
        <p:spPr>
          <a:xfrm>
            <a:off x="8001000" y="1591200"/>
            <a:ext cx="54684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필수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9" name="Shape 39"/>
          <p:cNvSpPr/>
          <p:nvPr/>
        </p:nvSpPr>
        <p:spPr>
          <a:xfrm>
            <a:off x="5394960" y="1874520"/>
            <a:ext cx="118692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0" name="Text 40"/>
          <p:cNvSpPr/>
          <p:nvPr/>
        </p:nvSpPr>
        <p:spPr>
          <a:xfrm>
            <a:off x="5459040" y="1892880"/>
            <a:ext cx="109548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1" name="Shape 41"/>
          <p:cNvSpPr/>
          <p:nvPr/>
        </p:nvSpPr>
        <p:spPr>
          <a:xfrm>
            <a:off x="6583680" y="1874520"/>
            <a:ext cx="13698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2" name="Text 42"/>
          <p:cNvSpPr/>
          <p:nvPr/>
        </p:nvSpPr>
        <p:spPr>
          <a:xfrm>
            <a:off x="6647760" y="1892880"/>
            <a:ext cx="12783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선택 </a:t>
            </a:r>
            <a:r>
              <a:rPr lang="en-US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(11</a:t>
            </a: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개</a:t>
            </a:r>
            <a:r>
              <a:rPr lang="en-US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3" name="Shape 43"/>
          <p:cNvSpPr/>
          <p:nvPr/>
        </p:nvSpPr>
        <p:spPr>
          <a:xfrm>
            <a:off x="7955280" y="1874520"/>
            <a:ext cx="63828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4" name="Text 44"/>
          <p:cNvSpPr/>
          <p:nvPr/>
        </p:nvSpPr>
        <p:spPr>
          <a:xfrm>
            <a:off x="8019360" y="1892880"/>
            <a:ext cx="54684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5" name="Shape 45"/>
          <p:cNvSpPr/>
          <p:nvPr/>
        </p:nvSpPr>
        <p:spPr>
          <a:xfrm>
            <a:off x="5394960" y="2167200"/>
            <a:ext cx="118692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6" name="Text 46"/>
          <p:cNvSpPr/>
          <p:nvPr/>
        </p:nvSpPr>
        <p:spPr>
          <a:xfrm>
            <a:off x="5459040" y="2185560"/>
            <a:ext cx="109548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7" name="Shape 47"/>
          <p:cNvSpPr/>
          <p:nvPr/>
        </p:nvSpPr>
        <p:spPr>
          <a:xfrm>
            <a:off x="6583680" y="2167200"/>
            <a:ext cx="13698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8" name="Text 48"/>
          <p:cNvSpPr/>
          <p:nvPr/>
        </p:nvSpPr>
        <p:spPr>
          <a:xfrm>
            <a:off x="6647760" y="2185560"/>
            <a:ext cx="12783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텍스트 입력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9" name="Shape 49"/>
          <p:cNvSpPr/>
          <p:nvPr/>
        </p:nvSpPr>
        <p:spPr>
          <a:xfrm>
            <a:off x="7955280" y="2167200"/>
            <a:ext cx="63828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0" name="Text 50"/>
          <p:cNvSpPr/>
          <p:nvPr/>
        </p:nvSpPr>
        <p:spPr>
          <a:xfrm>
            <a:off x="8019360" y="2185560"/>
            <a:ext cx="54684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1" name="Shape 51"/>
          <p:cNvSpPr/>
          <p:nvPr/>
        </p:nvSpPr>
        <p:spPr>
          <a:xfrm>
            <a:off x="5394960" y="2459880"/>
            <a:ext cx="118692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2" name="Text 52"/>
          <p:cNvSpPr/>
          <p:nvPr/>
        </p:nvSpPr>
        <p:spPr>
          <a:xfrm>
            <a:off x="5459040" y="2477880"/>
            <a:ext cx="109548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가격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3" name="Shape 53"/>
          <p:cNvSpPr/>
          <p:nvPr/>
        </p:nvSpPr>
        <p:spPr>
          <a:xfrm>
            <a:off x="6583680" y="2459880"/>
            <a:ext cx="13698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4" name="Text 54"/>
          <p:cNvSpPr/>
          <p:nvPr/>
        </p:nvSpPr>
        <p:spPr>
          <a:xfrm>
            <a:off x="6647760" y="2477880"/>
            <a:ext cx="12783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숫자 입력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5" name="Shape 55"/>
          <p:cNvSpPr/>
          <p:nvPr/>
        </p:nvSpPr>
        <p:spPr>
          <a:xfrm>
            <a:off x="7955280" y="2459880"/>
            <a:ext cx="63828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6" name="Text 56"/>
          <p:cNvSpPr/>
          <p:nvPr/>
        </p:nvSpPr>
        <p:spPr>
          <a:xfrm>
            <a:off x="8019360" y="2477880"/>
            <a:ext cx="54684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7" name="Shape 57"/>
          <p:cNvSpPr/>
          <p:nvPr/>
        </p:nvSpPr>
        <p:spPr>
          <a:xfrm>
            <a:off x="5394960" y="2752200"/>
            <a:ext cx="118692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8" name="Text 58"/>
          <p:cNvSpPr/>
          <p:nvPr/>
        </p:nvSpPr>
        <p:spPr>
          <a:xfrm>
            <a:off x="5459040" y="2770560"/>
            <a:ext cx="109548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상품상태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9" name="Shape 59"/>
          <p:cNvSpPr/>
          <p:nvPr/>
        </p:nvSpPr>
        <p:spPr>
          <a:xfrm>
            <a:off x="6583680" y="2752200"/>
            <a:ext cx="136980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0" name="Text 60"/>
          <p:cNvSpPr/>
          <p:nvPr/>
        </p:nvSpPr>
        <p:spPr>
          <a:xfrm>
            <a:off x="6647760" y="2770560"/>
            <a:ext cx="12783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 </a:t>
            </a:r>
            <a:r>
              <a:rPr lang="en-US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중 </a:t>
            </a:r>
            <a:r>
              <a:rPr lang="en-US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1" name="Shape 61"/>
          <p:cNvSpPr/>
          <p:nvPr/>
        </p:nvSpPr>
        <p:spPr>
          <a:xfrm>
            <a:off x="7955280" y="2752200"/>
            <a:ext cx="638280" cy="272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2" name="Text 62"/>
          <p:cNvSpPr/>
          <p:nvPr/>
        </p:nvSpPr>
        <p:spPr>
          <a:xfrm>
            <a:off x="8019360" y="2770560"/>
            <a:ext cx="54684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3" name="Shape 63"/>
          <p:cNvSpPr/>
          <p:nvPr/>
        </p:nvSpPr>
        <p:spPr>
          <a:xfrm>
            <a:off x="5394960" y="3044880"/>
            <a:ext cx="118692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4" name="Text 64"/>
          <p:cNvSpPr/>
          <p:nvPr/>
        </p:nvSpPr>
        <p:spPr>
          <a:xfrm>
            <a:off x="5459040" y="3063240"/>
            <a:ext cx="109548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설명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5" name="Shape 65"/>
          <p:cNvSpPr/>
          <p:nvPr/>
        </p:nvSpPr>
        <p:spPr>
          <a:xfrm>
            <a:off x="6583680" y="3044880"/>
            <a:ext cx="136980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6" name="Text 66"/>
          <p:cNvSpPr/>
          <p:nvPr/>
        </p:nvSpPr>
        <p:spPr>
          <a:xfrm>
            <a:off x="6647760" y="3063240"/>
            <a:ext cx="12783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텍스트 입력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7" name="Shape 67"/>
          <p:cNvSpPr/>
          <p:nvPr/>
        </p:nvSpPr>
        <p:spPr>
          <a:xfrm>
            <a:off x="7955280" y="3044880"/>
            <a:ext cx="638280" cy="27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8" name="Text 68"/>
          <p:cNvSpPr/>
          <p:nvPr/>
        </p:nvSpPr>
        <p:spPr>
          <a:xfrm>
            <a:off x="8019360" y="3063240"/>
            <a:ext cx="54684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선택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29" name="그림 628"/>
          <p:cNvPicPr/>
          <p:nvPr/>
        </p:nvPicPr>
        <p:blipFill>
          <a:blip r:embed="rId3"/>
          <a:stretch/>
        </p:blipFill>
        <p:spPr>
          <a:xfrm>
            <a:off x="5238720" y="3608280"/>
            <a:ext cx="3444840" cy="1029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1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즐겨찾기 카테고리 관리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2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3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4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5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즐겨찾기 카테고리 관리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6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7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8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9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즐겨찾기 카테고리 화면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Shape 10"/>
          <p:cNvSpPr/>
          <p:nvPr/>
        </p:nvSpPr>
        <p:spPr>
          <a:xfrm>
            <a:off x="457200" y="1572840"/>
            <a:ext cx="4387320" cy="30934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1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2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3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4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⭐  즐겨찾기 카테고리 관리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5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6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현재 즐겨찾기 카테고리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7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8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그래픽카드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9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 CPU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0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1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  ⚠  즐겨찾기 카테고리에 새 상품이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2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등록되면 알림을 받을 수 있습니다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3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4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즐겨찾기 추가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5" name="Text 25"/>
          <p:cNvSpPr/>
          <p:nvPr/>
        </p:nvSpPr>
        <p:spPr>
          <a:xfrm>
            <a:off x="548640" y="41742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2.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즐겨찾기 삭제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6" name="Text 26"/>
          <p:cNvSpPr/>
          <p:nvPr/>
        </p:nvSpPr>
        <p:spPr>
          <a:xfrm>
            <a:off x="548640" y="4398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7" name="Shape 27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8" name="Shape 28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9" name="Text 29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기능 설명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0" name="Shape 30"/>
          <p:cNvSpPr/>
          <p:nvPr/>
        </p:nvSpPr>
        <p:spPr>
          <a:xfrm>
            <a:off x="5394960" y="1572840"/>
            <a:ext cx="173556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1" name="Text 31"/>
          <p:cNvSpPr/>
          <p:nvPr/>
        </p:nvSpPr>
        <p:spPr>
          <a:xfrm>
            <a:off x="5468040" y="160020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즐겨찾기 추가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2" name="Shape 32"/>
          <p:cNvSpPr/>
          <p:nvPr/>
        </p:nvSpPr>
        <p:spPr>
          <a:xfrm>
            <a:off x="5394960" y="1874520"/>
            <a:ext cx="3381480" cy="10771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3" name="Shape 33"/>
          <p:cNvSpPr/>
          <p:nvPr/>
        </p:nvSpPr>
        <p:spPr>
          <a:xfrm>
            <a:off x="5486400" y="192492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4" name="Shape 34"/>
          <p:cNvSpPr/>
          <p:nvPr/>
        </p:nvSpPr>
        <p:spPr>
          <a:xfrm>
            <a:off x="5632560" y="192492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5" name="Shape 35"/>
          <p:cNvSpPr/>
          <p:nvPr/>
        </p:nvSpPr>
        <p:spPr>
          <a:xfrm>
            <a:off x="5779080" y="192492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6" name="Text 36"/>
          <p:cNvSpPr/>
          <p:nvPr/>
        </p:nvSpPr>
        <p:spPr>
          <a:xfrm>
            <a:off x="5486400" y="201168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카테고리 선택 후 추가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7" name="Text 37"/>
          <p:cNvSpPr/>
          <p:nvPr/>
        </p:nvSpPr>
        <p:spPr>
          <a:xfrm>
            <a:off x="5486400" y="223560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RAM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이 즐겨찾기 추가됨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8" name="Text 38"/>
          <p:cNvSpPr/>
          <p:nvPr/>
        </p:nvSpPr>
        <p:spPr>
          <a:xfrm>
            <a:off x="5486400" y="245988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해당 카테고리 신상품 등록 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9" name="Text 39"/>
          <p:cNvSpPr/>
          <p:nvPr/>
        </p:nvSpPr>
        <p:spPr>
          <a:xfrm>
            <a:off x="5486400" y="268380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자동 알림 발송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0" name="Shape 40"/>
          <p:cNvSpPr/>
          <p:nvPr/>
        </p:nvSpPr>
        <p:spPr>
          <a:xfrm>
            <a:off x="5394960" y="2971800"/>
            <a:ext cx="1735560" cy="217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71" name="Text 41"/>
          <p:cNvSpPr/>
          <p:nvPr/>
        </p:nvSpPr>
        <p:spPr>
          <a:xfrm>
            <a:off x="5468040" y="299916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알림 발생 시점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2" name="Shape 42"/>
          <p:cNvSpPr/>
          <p:nvPr/>
        </p:nvSpPr>
        <p:spPr>
          <a:xfrm>
            <a:off x="5394960" y="3273480"/>
            <a:ext cx="3381480" cy="85320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3" name="Shape 43"/>
          <p:cNvSpPr/>
          <p:nvPr/>
        </p:nvSpPr>
        <p:spPr>
          <a:xfrm>
            <a:off x="5486400" y="332388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74" name="Shape 44"/>
          <p:cNvSpPr/>
          <p:nvPr/>
        </p:nvSpPr>
        <p:spPr>
          <a:xfrm>
            <a:off x="5632560" y="332388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75" name="Shape 45"/>
          <p:cNvSpPr/>
          <p:nvPr/>
        </p:nvSpPr>
        <p:spPr>
          <a:xfrm>
            <a:off x="5779080" y="332388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76" name="Text 46"/>
          <p:cNvSpPr/>
          <p:nvPr/>
        </p:nvSpPr>
        <p:spPr>
          <a:xfrm>
            <a:off x="5486400" y="341064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⭐ [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추천</a:t>
            </a: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] 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즐겨찾기 카테고리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7" name="Text 47"/>
          <p:cNvSpPr/>
          <p:nvPr/>
        </p:nvSpPr>
        <p:spPr>
          <a:xfrm>
            <a:off x="5486400" y="363492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그래픽카드에 새 상품 등록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8" name="Text 48"/>
          <p:cNvSpPr/>
          <p:nvPr/>
        </p:nvSpPr>
        <p:spPr>
          <a:xfrm>
            <a:off x="5486400" y="385884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RTX 4090  800,000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0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알림 확인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1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2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3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4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알림 확인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5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6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7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알림 목록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9" name="Shape 10"/>
          <p:cNvSpPr/>
          <p:nvPr/>
        </p:nvSpPr>
        <p:spPr>
          <a:xfrm>
            <a:off x="457200" y="1572840"/>
            <a:ext cx="4387320" cy="30934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0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1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2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3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🔔  알림 확인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4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5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⭐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추천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그래픽카드 새상품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6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RTX 4090  800,000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7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2024-01-16  10:30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8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✅ RTX 4080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구매신청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0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2024-01-15  14:30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1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❌ 32GB DDR5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취소요청 접수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3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       2024-01-12  15:40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4" name="Text 25"/>
          <p:cNvSpPr/>
          <p:nvPr/>
        </p:nvSpPr>
        <p:spPr>
          <a:xfrm>
            <a:off x="548640" y="41742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5" name="Text 26"/>
          <p:cNvSpPr/>
          <p:nvPr/>
        </p:nvSpPr>
        <p:spPr>
          <a:xfrm>
            <a:off x="548640" y="4398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0.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6" name="Shape 27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7" name="Shape 28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8" name="Text 29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── 알림 발생 시점 정의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9" name="Shape 30"/>
          <p:cNvSpPr/>
          <p:nvPr/>
        </p:nvSpPr>
        <p:spPr>
          <a:xfrm>
            <a:off x="5394960" y="157284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0" name="Text 31"/>
          <p:cNvSpPr/>
          <p:nvPr/>
        </p:nvSpPr>
        <p:spPr>
          <a:xfrm>
            <a:off x="5394960" y="157284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1" name="Text 32"/>
          <p:cNvSpPr/>
          <p:nvPr/>
        </p:nvSpPr>
        <p:spPr>
          <a:xfrm>
            <a:off x="5742360" y="159120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즐겨찾기 신상품 등록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2" name="Shape 33"/>
          <p:cNvSpPr/>
          <p:nvPr/>
        </p:nvSpPr>
        <p:spPr>
          <a:xfrm>
            <a:off x="5394960" y="192024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3" name="Text 34"/>
          <p:cNvSpPr/>
          <p:nvPr/>
        </p:nvSpPr>
        <p:spPr>
          <a:xfrm>
            <a:off x="5394960" y="192024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4" name="Text 35"/>
          <p:cNvSpPr/>
          <p:nvPr/>
        </p:nvSpPr>
        <p:spPr>
          <a:xfrm>
            <a:off x="5742360" y="193860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구매 신청 완료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5" name="Shape 36"/>
          <p:cNvSpPr/>
          <p:nvPr/>
        </p:nvSpPr>
        <p:spPr>
          <a:xfrm>
            <a:off x="5394960" y="226764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6" name="Text 37"/>
          <p:cNvSpPr/>
          <p:nvPr/>
        </p:nvSpPr>
        <p:spPr>
          <a:xfrm>
            <a:off x="5394960" y="226764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7" name="Text 38"/>
          <p:cNvSpPr/>
          <p:nvPr/>
        </p:nvSpPr>
        <p:spPr>
          <a:xfrm>
            <a:off x="5742360" y="228600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거래 확정 완료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8" name="Shape 39"/>
          <p:cNvSpPr/>
          <p:nvPr/>
        </p:nvSpPr>
        <p:spPr>
          <a:xfrm>
            <a:off x="5394960" y="261504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9" name="Text 40"/>
          <p:cNvSpPr/>
          <p:nvPr/>
        </p:nvSpPr>
        <p:spPr>
          <a:xfrm>
            <a:off x="5394960" y="261504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0" name="Text 41"/>
          <p:cNvSpPr/>
          <p:nvPr/>
        </p:nvSpPr>
        <p:spPr>
          <a:xfrm>
            <a:off x="5742360" y="263340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요청 접수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1" name="Shape 42"/>
          <p:cNvSpPr/>
          <p:nvPr/>
        </p:nvSpPr>
        <p:spPr>
          <a:xfrm>
            <a:off x="5394960" y="296280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2" name="Text 43"/>
          <p:cNvSpPr/>
          <p:nvPr/>
        </p:nvSpPr>
        <p:spPr>
          <a:xfrm>
            <a:off x="5394960" y="296280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3" name="Text 44"/>
          <p:cNvSpPr/>
          <p:nvPr/>
        </p:nvSpPr>
        <p:spPr>
          <a:xfrm>
            <a:off x="5742360" y="298080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 승인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환불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4" name="Shape 45"/>
          <p:cNvSpPr/>
          <p:nvPr/>
        </p:nvSpPr>
        <p:spPr>
          <a:xfrm>
            <a:off x="5394960" y="3310200"/>
            <a:ext cx="272520" cy="272520"/>
          </a:xfrm>
          <a:prstGeom prst="rect">
            <a:avLst/>
          </a:prstGeom>
          <a:solidFill>
            <a:srgbClr val="EFF2F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5" name="Text 46"/>
          <p:cNvSpPr/>
          <p:nvPr/>
        </p:nvSpPr>
        <p:spPr>
          <a:xfrm>
            <a:off x="5394960" y="3310200"/>
            <a:ext cx="272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🚫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6" name="Text 47"/>
          <p:cNvSpPr/>
          <p:nvPr/>
        </p:nvSpPr>
        <p:spPr>
          <a:xfrm>
            <a:off x="5742360" y="3328560"/>
            <a:ext cx="310716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차단 안내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관리자 메인 메뉴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30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32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관리자 메인 메뉴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4" name="Shape 7"/>
          <p:cNvSpPr/>
          <p:nvPr/>
        </p:nvSpPr>
        <p:spPr>
          <a:xfrm>
            <a:off x="274320" y="1188720"/>
            <a:ext cx="475308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274320" y="1188720"/>
            <a:ext cx="475308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411480" y="1234440"/>
            <a:ext cx="44787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onsolas"/>
                <a:ea typeface="Consolas"/>
              </a:rPr>
              <a:t>── 관리자 메인 화면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457200" y="1572840"/>
            <a:ext cx="4387320" cy="3989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8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39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41" name="Text 14"/>
          <p:cNvSpPr/>
          <p:nvPr/>
        </p:nvSpPr>
        <p:spPr>
          <a:xfrm>
            <a:off x="548640" y="17100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💻  중고 컴퓨터 거래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548640" y="19339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🔧  관리자       🔔  새 알림 3</a:t>
            </a:r>
            <a:r>
              <a:rPr lang="ko-KR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건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3" name="Text 16"/>
          <p:cNvSpPr/>
          <p:nvPr/>
        </p:nvSpPr>
        <p:spPr>
          <a:xfrm>
            <a:off x="548640" y="21578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4" name="Text 17"/>
          <p:cNvSpPr/>
          <p:nvPr/>
        </p:nvSpPr>
        <p:spPr>
          <a:xfrm>
            <a:off x="548640" y="2382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상품 조회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548640" y="26060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상품목록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2.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카테고리검색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3.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번호검색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548640" y="28299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548640" y="3054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거래 관리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8" name="Text 21"/>
          <p:cNvSpPr/>
          <p:nvPr/>
        </p:nvSpPr>
        <p:spPr>
          <a:xfrm>
            <a:off x="548640" y="32781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4.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취소요청 목록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548640" y="35020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5.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 승인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0" name="Text 23"/>
          <p:cNvSpPr/>
          <p:nvPr/>
        </p:nvSpPr>
        <p:spPr>
          <a:xfrm>
            <a:off x="548640" y="372636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1" name="Text 24"/>
          <p:cNvSpPr/>
          <p:nvPr/>
        </p:nvSpPr>
        <p:spPr>
          <a:xfrm>
            <a:off x="548640" y="395028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회원 관리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2" name="Text 25"/>
          <p:cNvSpPr/>
          <p:nvPr/>
        </p:nvSpPr>
        <p:spPr>
          <a:xfrm>
            <a:off x="548640" y="41742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6.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회원 목록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/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차단 관리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3" name="Text 26"/>
          <p:cNvSpPr/>
          <p:nvPr/>
        </p:nvSpPr>
        <p:spPr>
          <a:xfrm>
            <a:off x="548640" y="43981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4" name="Text 27"/>
          <p:cNvSpPr/>
          <p:nvPr/>
        </p:nvSpPr>
        <p:spPr>
          <a:xfrm>
            <a:off x="548640" y="462240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카테고리 관리</a:t>
            </a: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5" name="Text 28"/>
          <p:cNvSpPr/>
          <p:nvPr/>
        </p:nvSpPr>
        <p:spPr>
          <a:xfrm>
            <a:off x="548640" y="48463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7.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목록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8.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추가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9.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삭제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6" name="Text 29"/>
          <p:cNvSpPr/>
          <p:nvPr/>
        </p:nvSpPr>
        <p:spPr>
          <a:xfrm>
            <a:off x="548640" y="507024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7" name="Text 30"/>
          <p:cNvSpPr/>
          <p:nvPr/>
        </p:nvSpPr>
        <p:spPr>
          <a:xfrm>
            <a:off x="548640" y="5294520"/>
            <a:ext cx="420444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알림 확인  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11.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로그아웃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Shape 31"/>
          <p:cNvSpPr/>
          <p:nvPr/>
        </p:nvSpPr>
        <p:spPr>
          <a:xfrm>
            <a:off x="5212080" y="1188720"/>
            <a:ext cx="36558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9" name="Shape 32"/>
          <p:cNvSpPr/>
          <p:nvPr/>
        </p:nvSpPr>
        <p:spPr>
          <a:xfrm>
            <a:off x="5212080" y="1188720"/>
            <a:ext cx="36558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0" name="Text 33"/>
          <p:cNvSpPr/>
          <p:nvPr/>
        </p:nvSpPr>
        <p:spPr>
          <a:xfrm>
            <a:off x="5349240" y="1234440"/>
            <a:ext cx="3381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onsolas"/>
                <a:ea typeface="Consolas"/>
              </a:rPr>
              <a:t>── 관리자 전용 기능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1" name="Shape 34"/>
          <p:cNvSpPr/>
          <p:nvPr/>
        </p:nvSpPr>
        <p:spPr>
          <a:xfrm>
            <a:off x="5394960" y="1572840"/>
            <a:ext cx="1735560" cy="217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62" name="Text 35"/>
          <p:cNvSpPr/>
          <p:nvPr/>
        </p:nvSpPr>
        <p:spPr>
          <a:xfrm>
            <a:off x="5468040" y="160020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관리자 전용 기능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3" name="Shape 36"/>
          <p:cNvSpPr/>
          <p:nvPr/>
        </p:nvSpPr>
        <p:spPr>
          <a:xfrm>
            <a:off x="5394960" y="1883520"/>
            <a:ext cx="71280" cy="254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64" name="Text 37"/>
          <p:cNvSpPr/>
          <p:nvPr/>
        </p:nvSpPr>
        <p:spPr>
          <a:xfrm>
            <a:off x="5541120" y="188352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취소요청 → 취소 승인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환불 처리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5" name="Shape 38"/>
          <p:cNvSpPr/>
          <p:nvPr/>
        </p:nvSpPr>
        <p:spPr>
          <a:xfrm>
            <a:off x="5394960" y="2212920"/>
            <a:ext cx="71280" cy="254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66" name="Text 39"/>
          <p:cNvSpPr/>
          <p:nvPr/>
        </p:nvSpPr>
        <p:spPr>
          <a:xfrm>
            <a:off x="5541120" y="221292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회원 차단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차단 해제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7" name="Shape 40"/>
          <p:cNvSpPr/>
          <p:nvPr/>
        </p:nvSpPr>
        <p:spPr>
          <a:xfrm>
            <a:off x="5394960" y="2541960"/>
            <a:ext cx="71280" cy="254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68" name="Text 41"/>
          <p:cNvSpPr/>
          <p:nvPr/>
        </p:nvSpPr>
        <p:spPr>
          <a:xfrm>
            <a:off x="5541120" y="25419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 강제 수정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삭제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9" name="Shape 42"/>
          <p:cNvSpPr/>
          <p:nvPr/>
        </p:nvSpPr>
        <p:spPr>
          <a:xfrm>
            <a:off x="5394960" y="2871360"/>
            <a:ext cx="71280" cy="254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0" name="Text 43"/>
          <p:cNvSpPr/>
          <p:nvPr/>
        </p:nvSpPr>
        <p:spPr>
          <a:xfrm>
            <a:off x="5541120" y="28713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카테고리 추가 </a:t>
            </a:r>
            <a:r>
              <a:rPr lang="en-US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삭제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1" name="Shape 44"/>
          <p:cNvSpPr/>
          <p:nvPr/>
        </p:nvSpPr>
        <p:spPr>
          <a:xfrm>
            <a:off x="5394960" y="3200400"/>
            <a:ext cx="71280" cy="254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2" name="Text 45"/>
          <p:cNvSpPr/>
          <p:nvPr/>
        </p:nvSpPr>
        <p:spPr>
          <a:xfrm>
            <a:off x="5541120" y="320040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모든 상태 상품 조회 가능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3" name="Shape 46"/>
          <p:cNvSpPr/>
          <p:nvPr/>
        </p:nvSpPr>
        <p:spPr>
          <a:xfrm>
            <a:off x="5394960" y="3639240"/>
            <a:ext cx="1735560" cy="21780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4" name="Text 47"/>
          <p:cNvSpPr/>
          <p:nvPr/>
        </p:nvSpPr>
        <p:spPr>
          <a:xfrm>
            <a:off x="5468040" y="3666600"/>
            <a:ext cx="164412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상품 조회 차이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5" name="Shape 48"/>
          <p:cNvSpPr/>
          <p:nvPr/>
        </p:nvSpPr>
        <p:spPr>
          <a:xfrm>
            <a:off x="5394960" y="3931920"/>
            <a:ext cx="3381480" cy="62928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6" name="Shape 49"/>
          <p:cNvSpPr/>
          <p:nvPr/>
        </p:nvSpPr>
        <p:spPr>
          <a:xfrm>
            <a:off x="5486400" y="398232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7" name="Shape 50"/>
          <p:cNvSpPr/>
          <p:nvPr/>
        </p:nvSpPr>
        <p:spPr>
          <a:xfrm>
            <a:off x="5632560" y="398232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8" name="Shape 51"/>
          <p:cNvSpPr/>
          <p:nvPr/>
        </p:nvSpPr>
        <p:spPr>
          <a:xfrm>
            <a:off x="5779080" y="398232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79" name="Text 52"/>
          <p:cNvSpPr/>
          <p:nvPr/>
        </p:nvSpPr>
        <p:spPr>
          <a:xfrm>
            <a:off x="5486400" y="406908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USER  : ON_SALE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만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0" name="Text 53"/>
          <p:cNvSpPr/>
          <p:nvPr/>
        </p:nvSpPr>
        <p:spPr>
          <a:xfrm>
            <a:off x="5486400" y="4293000"/>
            <a:ext cx="319860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ADMIN 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모든 상태 표시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취소요청 목록 /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회원 차단 관리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3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84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SCR-020 / SCR-021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5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86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취소요청 목록 </a:t>
            </a:r>
            <a:r>
              <a:rPr lang="en-US" sz="2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2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회원 차단 관리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7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8" name="Shape 7"/>
          <p:cNvSpPr/>
          <p:nvPr/>
        </p:nvSpPr>
        <p:spPr>
          <a:xfrm>
            <a:off x="27432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9" name="Shape 8"/>
          <p:cNvSpPr/>
          <p:nvPr/>
        </p:nvSpPr>
        <p:spPr>
          <a:xfrm>
            <a:off x="27432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0" name="Text 9"/>
          <p:cNvSpPr/>
          <p:nvPr/>
        </p:nvSpPr>
        <p:spPr>
          <a:xfrm>
            <a:off x="41148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onsolas"/>
                <a:ea typeface="Consolas"/>
              </a:rPr>
              <a:t>── 취소요청 목록  (SCR-020)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1" name="Shape 10"/>
          <p:cNvSpPr/>
          <p:nvPr/>
        </p:nvSpPr>
        <p:spPr>
          <a:xfrm>
            <a:off x="457200" y="1572840"/>
            <a:ext cx="3747240" cy="331740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2" name="Shape 11"/>
          <p:cNvSpPr/>
          <p:nvPr/>
        </p:nvSpPr>
        <p:spPr>
          <a:xfrm>
            <a:off x="54864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93" name="Shape 12"/>
          <p:cNvSpPr/>
          <p:nvPr/>
        </p:nvSpPr>
        <p:spPr>
          <a:xfrm>
            <a:off x="69480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94" name="Shape 13"/>
          <p:cNvSpPr/>
          <p:nvPr/>
        </p:nvSpPr>
        <p:spPr>
          <a:xfrm>
            <a:off x="84132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95" name="Text 14"/>
          <p:cNvSpPr/>
          <p:nvPr/>
        </p:nvSpPr>
        <p:spPr>
          <a:xfrm>
            <a:off x="54864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333"/>
                </a:solidFill>
                <a:effectLst/>
                <a:uFillTx/>
                <a:latin typeface="Consolas"/>
                <a:ea typeface="Consolas"/>
              </a:rPr>
              <a:t>  🔧  취소요청 목록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6" name="Text 15"/>
          <p:cNvSpPr/>
          <p:nvPr/>
        </p:nvSpPr>
        <p:spPr>
          <a:xfrm>
            <a:off x="54864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7" name="Text 16"/>
          <p:cNvSpPr/>
          <p:nvPr/>
        </p:nvSpPr>
        <p:spPr>
          <a:xfrm>
            <a:off x="54864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번호  상품명   구매자   금액     처리구분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8" name="Text 17"/>
          <p:cNvSpPr/>
          <p:nvPr/>
        </p:nvSpPr>
        <p:spPr>
          <a:xfrm>
            <a:off x="54864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9" name="Text 18"/>
          <p:cNvSpPr/>
          <p:nvPr/>
        </p:nvSpPr>
        <p:spPr>
          <a:xfrm>
            <a:off x="54864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 RTX 4080  hong***  500,000  (구매자 요청 / CANCEL_REQUEST)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0" name="Text 19"/>
          <p:cNvSpPr/>
          <p:nvPr/>
        </p:nvSpPr>
        <p:spPr>
          <a:xfrm>
            <a:off x="54864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 32GB DDR5 kim****   80,000  (</a:t>
            </a:r>
            <a:r>
              <a:rPr lang="ko-KR" sz="850" b="1" u="none" strike="noStrik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판매자 거절</a:t>
            </a:r>
            <a:r>
              <a:rPr lang="en-US" sz="850" b="0" u="none" strike="noStrik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 / CANCEL_REJECTED)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1" name="Text 20"/>
          <p:cNvSpPr/>
          <p:nvPr/>
        </p:nvSpPr>
        <p:spPr>
          <a:xfrm>
            <a:off x="54864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2" name="Text 21"/>
          <p:cNvSpPr/>
          <p:nvPr/>
        </p:nvSpPr>
        <p:spPr>
          <a:xfrm>
            <a:off x="54864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 &gt;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3" name="Text 22"/>
          <p:cNvSpPr/>
          <p:nvPr/>
        </p:nvSpPr>
        <p:spPr>
          <a:xfrm>
            <a:off x="54864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상품명  :  RTX 4080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4" name="Text 23"/>
          <p:cNvSpPr/>
          <p:nvPr/>
        </p:nvSpPr>
        <p:spPr>
          <a:xfrm>
            <a:off x="54864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구매자  :  hong***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5" name="Text 24"/>
          <p:cNvSpPr/>
          <p:nvPr/>
        </p:nvSpPr>
        <p:spPr>
          <a:xfrm>
            <a:off x="54864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금액    :  500,000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원  </a:t>
            </a:r>
            <a:r>
              <a:rPr lang="ko-KR" sz="850" b="0" u="none" strike="noStrike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처리구분: 구매자 요청  상태: CANCEL_REQUEST  (판매자 거절 시 → CANCEL_REJECTED)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6" name="Text 25"/>
          <p:cNvSpPr/>
          <p:nvPr/>
        </p:nvSpPr>
        <p:spPr>
          <a:xfrm>
            <a:off x="54864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7" name="Text 26"/>
          <p:cNvSpPr/>
          <p:nvPr/>
        </p:nvSpPr>
        <p:spPr>
          <a:xfrm>
            <a:off x="54864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취소승인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환불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)  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8" name="Text 27"/>
          <p:cNvSpPr/>
          <p:nvPr/>
        </p:nvSpPr>
        <p:spPr>
          <a:xfrm>
            <a:off x="548640" y="46224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취소 승인 완료 / 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환불 처리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9" name="Shape 28"/>
          <p:cNvSpPr/>
          <p:nvPr/>
        </p:nvSpPr>
        <p:spPr>
          <a:xfrm>
            <a:off x="4754880" y="1188720"/>
            <a:ext cx="4113000" cy="36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0" name="Shape 29"/>
          <p:cNvSpPr/>
          <p:nvPr/>
        </p:nvSpPr>
        <p:spPr>
          <a:xfrm>
            <a:off x="4754880" y="1188720"/>
            <a:ext cx="4113000" cy="290880"/>
          </a:xfrm>
          <a:prstGeom prst="rect">
            <a:avLst/>
          </a:prstGeom>
          <a:solidFill>
            <a:srgbClr val="EFF2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1" name="Text 30"/>
          <p:cNvSpPr/>
          <p:nvPr/>
        </p:nvSpPr>
        <p:spPr>
          <a:xfrm>
            <a:off x="4892040" y="1234440"/>
            <a:ext cx="38386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C3AED"/>
                </a:solidFill>
                <a:effectLst/>
                <a:uFillTx/>
                <a:latin typeface="Consolas"/>
                <a:ea typeface="Consolas"/>
              </a:rPr>
              <a:t>── 회원 차단 관리  (SCR-021)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2" name="Shape 31"/>
          <p:cNvSpPr/>
          <p:nvPr/>
        </p:nvSpPr>
        <p:spPr>
          <a:xfrm>
            <a:off x="4937760" y="1572840"/>
            <a:ext cx="3747240" cy="331740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3" name="Shape 32"/>
          <p:cNvSpPr/>
          <p:nvPr/>
        </p:nvSpPr>
        <p:spPr>
          <a:xfrm>
            <a:off x="5029200" y="1623240"/>
            <a:ext cx="80640" cy="80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14" name="Shape 33"/>
          <p:cNvSpPr/>
          <p:nvPr/>
        </p:nvSpPr>
        <p:spPr>
          <a:xfrm>
            <a:off x="5175360" y="1623240"/>
            <a:ext cx="80640" cy="80640"/>
          </a:xfrm>
          <a:prstGeom prst="ellipse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15" name="Shape 34"/>
          <p:cNvSpPr/>
          <p:nvPr/>
        </p:nvSpPr>
        <p:spPr>
          <a:xfrm>
            <a:off x="5321880" y="1623240"/>
            <a:ext cx="80640" cy="80640"/>
          </a:xfrm>
          <a:prstGeom prst="ellipse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16" name="Text 35"/>
          <p:cNvSpPr/>
          <p:nvPr/>
        </p:nvSpPr>
        <p:spPr>
          <a:xfrm>
            <a:off x="5029200" y="17100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👥  회원 목록 /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차단 관리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7" name="Text 36"/>
          <p:cNvSpPr/>
          <p:nvPr/>
        </p:nvSpPr>
        <p:spPr>
          <a:xfrm>
            <a:off x="5029200" y="19339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8" name="Text 37"/>
          <p:cNvSpPr/>
          <p:nvPr/>
        </p:nvSpPr>
        <p:spPr>
          <a:xfrm>
            <a:off x="5029200" y="21578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[1] hong123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정상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9" name="Text 38"/>
          <p:cNvSpPr/>
          <p:nvPr/>
        </p:nvSpPr>
        <p:spPr>
          <a:xfrm>
            <a:off x="5029200" y="2382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[2] kim456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정상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0" name="Text 39"/>
          <p:cNvSpPr/>
          <p:nvPr/>
        </p:nvSpPr>
        <p:spPr>
          <a:xfrm>
            <a:off x="5029200" y="26060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  [3] lee789   </a:t>
            </a:r>
            <a:r>
              <a:rPr lang="ko-KR" sz="850" b="0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차단됨 🚫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1" name="Text 40"/>
          <p:cNvSpPr/>
          <p:nvPr/>
        </p:nvSpPr>
        <p:spPr>
          <a:xfrm>
            <a:off x="5029200" y="28299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ED4DA"/>
                </a:solidFill>
                <a:effectLst/>
                <a:uFillTx/>
                <a:latin typeface="Consolas"/>
                <a:ea typeface="Consolas"/>
              </a:rPr>
              <a:t>════════════════════════════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2" name="Text 41"/>
          <p:cNvSpPr/>
          <p:nvPr/>
        </p:nvSpPr>
        <p:spPr>
          <a:xfrm>
            <a:off x="5029200" y="305424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 &gt; 1  (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정상회원 선택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3" name="Text 42"/>
          <p:cNvSpPr/>
          <p:nvPr/>
        </p:nvSpPr>
        <p:spPr>
          <a:xfrm>
            <a:off x="5029200" y="32781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아이디 : hong123 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상태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정상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4" name="Text 43"/>
          <p:cNvSpPr/>
          <p:nvPr/>
        </p:nvSpPr>
        <p:spPr>
          <a:xfrm>
            <a:off x="5029200" y="35020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차단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5" name="Text 44"/>
          <p:cNvSpPr/>
          <p:nvPr/>
        </p:nvSpPr>
        <p:spPr>
          <a:xfrm>
            <a:off x="5029200" y="372636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────────────────────────────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6" name="Text 45"/>
          <p:cNvSpPr/>
          <p:nvPr/>
        </p:nvSpPr>
        <p:spPr>
          <a:xfrm>
            <a:off x="5029200" y="395028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번호 &gt; 3  (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차단회원 선택</a:t>
            </a: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7" name="Text 46"/>
          <p:cNvSpPr/>
          <p:nvPr/>
        </p:nvSpPr>
        <p:spPr>
          <a:xfrm>
            <a:off x="5029200" y="41742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  아이디 : lee789  </a:t>
            </a:r>
            <a:r>
              <a:rPr lang="ko-KR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상태 </a:t>
            </a:r>
            <a:r>
              <a:rPr lang="en-US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ko-KR" sz="850" b="0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차단됨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8" name="Text 47"/>
          <p:cNvSpPr/>
          <p:nvPr/>
        </p:nvSpPr>
        <p:spPr>
          <a:xfrm>
            <a:off x="5029200" y="439812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  1.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차단해제  </a:t>
            </a:r>
            <a:r>
              <a:rPr lang="en-US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0. </a:t>
            </a:r>
            <a:r>
              <a:rPr lang="ko-KR" sz="850" b="0" u="none" strike="noStrike">
                <a:solidFill>
                  <a:srgbClr val="2C3E50"/>
                </a:solidFill>
                <a:effectLst/>
                <a:uFillTx/>
                <a:latin typeface="Consolas"/>
                <a:ea typeface="Consolas"/>
              </a:rPr>
              <a:t>돌아가기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9" name="Text 48"/>
          <p:cNvSpPr/>
          <p:nvPr/>
        </p:nvSpPr>
        <p:spPr>
          <a:xfrm>
            <a:off x="5029200" y="4622400"/>
            <a:ext cx="3564360" cy="2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  ✅ 차단 / </a:t>
            </a:r>
            <a:r>
              <a:rPr lang="ko-KR" sz="850" b="0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차단해제 완료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0" name="Shape 49"/>
          <p:cNvSpPr/>
          <p:nvPr/>
        </p:nvSpPr>
        <p:spPr>
          <a:xfrm>
            <a:off x="274320" y="4709160"/>
            <a:ext cx="8593560" cy="299880"/>
          </a:xfrm>
          <a:prstGeom prst="rect">
            <a:avLst/>
          </a:prstGeom>
          <a:solidFill>
            <a:srgbClr val="FFFBF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1" name="Shape 50"/>
          <p:cNvSpPr/>
          <p:nvPr/>
        </p:nvSpPr>
        <p:spPr>
          <a:xfrm>
            <a:off x="274320" y="4709160"/>
            <a:ext cx="52920" cy="2998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32" name="Text 51"/>
          <p:cNvSpPr/>
          <p:nvPr/>
        </p:nvSpPr>
        <p:spPr>
          <a:xfrm>
            <a:off x="411480" y="4754880"/>
            <a:ext cx="836496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⚠  취소 승인 시 구매자에게 자동 환불  |  판매자 거절 건은 관리자가 직접 환불 처리  | 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차단 시 해당 계정 로그인 즉시 차단  </a:t>
            </a:r>
            <a:r>
              <a:rPr lang="en-US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|  </a:t>
            </a:r>
            <a:r>
              <a:rPr lang="ko-KR" sz="850" b="0" u="none" strike="noStrike">
                <a:solidFill>
                  <a:srgbClr val="495057"/>
                </a:solidFill>
                <a:effectLst/>
                <a:uFillTx/>
                <a:latin typeface="Calibri"/>
                <a:ea typeface="Calibri"/>
              </a:rPr>
              <a:t>차단 해제 시 즉시 로그인 가능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Shape 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34" name="Text 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거래 흐름 요약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5" name="Shape 2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36" name="Text 3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REF-001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7" name="Shape 4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38" name="Text 5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상품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Noto Sans KR"/>
                <a:ea typeface="Noto Sans KR"/>
              </a:rPr>
              <a:t>PRODUCT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상태 전이 흐름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9" name="Shape 6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0" name="Shape 7"/>
          <p:cNvSpPr/>
          <p:nvPr/>
        </p:nvSpPr>
        <p:spPr>
          <a:xfrm>
            <a:off x="457200" y="1371600"/>
            <a:ext cx="2375640" cy="775440"/>
          </a:xfrm>
          <a:prstGeom prst="rect">
            <a:avLst/>
          </a:prstGeom>
          <a:solidFill>
            <a:srgbClr val="F0FAF2"/>
          </a:solidFill>
          <a:ln w="25400">
            <a:solidFill>
              <a:srgbClr val="1E8C3A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1" name="Shape 8"/>
          <p:cNvSpPr/>
          <p:nvPr/>
        </p:nvSpPr>
        <p:spPr>
          <a:xfrm>
            <a:off x="457200" y="1371600"/>
            <a:ext cx="2375640" cy="7128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42" name="Text 9"/>
          <p:cNvSpPr/>
          <p:nvPr/>
        </p:nvSpPr>
        <p:spPr>
          <a:xfrm>
            <a:off x="45720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ON_SALE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3" name="Text 10"/>
          <p:cNvSpPr/>
          <p:nvPr/>
        </p:nvSpPr>
        <p:spPr>
          <a:xfrm>
            <a:off x="45720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판매중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4" name="Shape 11"/>
          <p:cNvSpPr/>
          <p:nvPr/>
        </p:nvSpPr>
        <p:spPr>
          <a:xfrm>
            <a:off x="3200400" y="1371600"/>
            <a:ext cx="2375640" cy="775440"/>
          </a:xfrm>
          <a:prstGeom prst="rect">
            <a:avLst/>
          </a:prstGeom>
          <a:solidFill>
            <a:srgbClr val="FFF8F0"/>
          </a:solidFill>
          <a:ln w="25400">
            <a:solidFill>
              <a:srgbClr val="E37400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5" name="Shape 12"/>
          <p:cNvSpPr/>
          <p:nvPr/>
        </p:nvSpPr>
        <p:spPr>
          <a:xfrm>
            <a:off x="3200400" y="1371600"/>
            <a:ext cx="2375640" cy="71280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46" name="Text 13"/>
          <p:cNvSpPr/>
          <p:nvPr/>
        </p:nvSpPr>
        <p:spPr>
          <a:xfrm>
            <a:off x="320040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37400"/>
                </a:solidFill>
                <a:effectLst/>
                <a:uFillTx/>
                <a:latin typeface="Consolas"/>
                <a:ea typeface="Consolas"/>
              </a:rPr>
              <a:t>RESERVED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7" name="Text 14"/>
          <p:cNvSpPr/>
          <p:nvPr/>
        </p:nvSpPr>
        <p:spPr>
          <a:xfrm>
            <a:off x="320040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예약 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8" name="Shape 15"/>
          <p:cNvSpPr/>
          <p:nvPr/>
        </p:nvSpPr>
        <p:spPr>
          <a:xfrm>
            <a:off x="5943600" y="1371600"/>
            <a:ext cx="2375640" cy="775440"/>
          </a:xfrm>
          <a:prstGeom prst="rect">
            <a:avLst/>
          </a:prstGeom>
          <a:solidFill>
            <a:srgbClr val="F0FAF2"/>
          </a:solidFill>
          <a:ln w="25400">
            <a:solidFill>
              <a:srgbClr val="1E8C3A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9" name="Shape 16"/>
          <p:cNvSpPr/>
          <p:nvPr/>
        </p:nvSpPr>
        <p:spPr>
          <a:xfrm>
            <a:off x="5943600" y="1371600"/>
            <a:ext cx="2375640" cy="7128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50" name="Text 17"/>
          <p:cNvSpPr/>
          <p:nvPr/>
        </p:nvSpPr>
        <p:spPr>
          <a:xfrm>
            <a:off x="594360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COMPLETED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1" name="Text 18"/>
          <p:cNvSpPr/>
          <p:nvPr/>
        </p:nvSpPr>
        <p:spPr>
          <a:xfrm>
            <a:off x="594360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거래완료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2" name="Shape 27"/>
          <p:cNvSpPr/>
          <p:nvPr/>
        </p:nvSpPr>
        <p:spPr>
          <a:xfrm>
            <a:off x="2834640" y="1760040"/>
            <a:ext cx="365760" cy="360"/>
          </a:xfrm>
          <a:prstGeom prst="line">
            <a:avLst/>
          </a:prstGeom>
          <a:ln w="25400">
            <a:solidFill>
              <a:srgbClr val="E37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3" name="Text 28"/>
          <p:cNvSpPr/>
          <p:nvPr/>
        </p:nvSpPr>
        <p:spPr>
          <a:xfrm>
            <a:off x="457200" y="1234440"/>
            <a:ext cx="31986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구매신청 </a:t>
            </a:r>
            <a:r>
              <a:rPr lang="en-US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구매자 </a:t>
            </a:r>
            <a:r>
              <a:rPr lang="en-US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금액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4" name="Shape 29"/>
          <p:cNvSpPr/>
          <p:nvPr/>
        </p:nvSpPr>
        <p:spPr>
          <a:xfrm>
            <a:off x="5577840" y="1760040"/>
            <a:ext cx="365760" cy="360"/>
          </a:xfrm>
          <a:prstGeom prst="line">
            <a:avLst/>
          </a:prstGeom>
          <a:ln w="254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5" name="Text 30"/>
          <p:cNvSpPr/>
          <p:nvPr/>
        </p:nvSpPr>
        <p:spPr>
          <a:xfrm>
            <a:off x="5212080" y="1234440"/>
            <a:ext cx="31986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거래 확정 </a:t>
            </a:r>
            <a:r>
              <a:rPr lang="en-US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판매자 </a:t>
            </a:r>
            <a:r>
              <a:rPr lang="en-US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금액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6" name="Shape 31"/>
          <p:cNvSpPr/>
          <p:nvPr/>
        </p:nvSpPr>
        <p:spPr>
          <a:xfrm>
            <a:off x="4389120" y="2148840"/>
            <a:ext cx="360" cy="868680"/>
          </a:xfrm>
          <a:prstGeom prst="line">
            <a:avLst/>
          </a:prstGeom>
          <a:ln w="254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7" name="Text 32"/>
          <p:cNvSpPr/>
          <p:nvPr/>
        </p:nvSpPr>
        <p:spPr>
          <a:xfrm>
            <a:off x="4453200" y="2423160"/>
            <a:ext cx="1095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취소완료시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858" name="Table 1"/>
          <p:cNvGraphicFramePr/>
          <p:nvPr/>
        </p:nvGraphicFramePr>
        <p:xfrm>
          <a:off x="271800" y="3813480"/>
          <a:ext cx="8595360" cy="1143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이벤트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구매자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판매자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구매 신청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D930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 </a:t>
                      </a:r>
                      <a:r>
                        <a:rPr lang="ko-KR" sz="900" b="0" u="none" strike="noStrike">
                          <a:solidFill>
                            <a:srgbClr val="D930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금액 차감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거래 확정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금액 입금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취소 요청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관리자 취소승인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환불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9" name="Shape 3"/>
          <p:cNvSpPr/>
          <p:nvPr/>
        </p:nvSpPr>
        <p:spPr>
          <a:xfrm flipH="1">
            <a:off x="1440000" y="3017520"/>
            <a:ext cx="2949120" cy="42480"/>
          </a:xfrm>
          <a:prstGeom prst="line">
            <a:avLst/>
          </a:prstGeom>
          <a:ln w="254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" rIns="90000" bIns="-252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0" name="Shape 18"/>
          <p:cNvSpPr/>
          <p:nvPr/>
        </p:nvSpPr>
        <p:spPr>
          <a:xfrm flipV="1">
            <a:off x="1440000" y="2147760"/>
            <a:ext cx="360" cy="912240"/>
          </a:xfrm>
          <a:prstGeom prst="line">
            <a:avLst/>
          </a:prstGeom>
          <a:ln w="254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60"/>
          <p:cNvSpPr/>
          <p:nvPr/>
        </p:nvSpPr>
        <p:spPr>
          <a:xfrm>
            <a:off x="0" y="0"/>
            <a:ext cx="9142200" cy="5011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62" name="Text 61"/>
          <p:cNvSpPr/>
          <p:nvPr/>
        </p:nvSpPr>
        <p:spPr>
          <a:xfrm>
            <a:off x="274320" y="73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💻  거래 흐름 요약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3" name="Shape 66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64" name="Text 65"/>
          <p:cNvSpPr/>
          <p:nvPr/>
        </p:nvSpPr>
        <p:spPr>
          <a:xfrm>
            <a:off x="7132320" y="91440"/>
            <a:ext cx="17355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REF-001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5" name="Shape 69"/>
          <p:cNvSpPr/>
          <p:nvPr/>
        </p:nvSpPr>
        <p:spPr>
          <a:xfrm>
            <a:off x="0" y="502920"/>
            <a:ext cx="71280" cy="592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66" name="Text 67"/>
          <p:cNvSpPr/>
          <p:nvPr/>
        </p:nvSpPr>
        <p:spPr>
          <a:xfrm>
            <a:off x="228600" y="54864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거래</a:t>
            </a:r>
            <a:r>
              <a:rPr lang="en-US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(ORDER) </a:t>
            </a:r>
            <a:r>
              <a:rPr lang="ko-KR" sz="2000" b="1" u="none" strike="noStrike">
                <a:solidFill>
                  <a:srgbClr val="1C2333"/>
                </a:solidFill>
                <a:effectLst/>
                <a:uFillTx/>
                <a:latin typeface="Calibri"/>
                <a:ea typeface="Calibri"/>
              </a:rPr>
              <a:t>상태 전이 흐름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7" name="Shape 72"/>
          <p:cNvSpPr/>
          <p:nvPr/>
        </p:nvSpPr>
        <p:spPr>
          <a:xfrm>
            <a:off x="0" y="1115280"/>
            <a:ext cx="9144000" cy="360"/>
          </a:xfrm>
          <a:prstGeom prst="line">
            <a:avLst/>
          </a:prstGeom>
          <a:ln w="12700">
            <a:solidFill>
              <a:srgbClr val="DEE2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8" name="Shape 73"/>
          <p:cNvSpPr/>
          <p:nvPr/>
        </p:nvSpPr>
        <p:spPr>
          <a:xfrm>
            <a:off x="457200" y="1371600"/>
            <a:ext cx="2375640" cy="775440"/>
          </a:xfrm>
          <a:prstGeom prst="rect">
            <a:avLst/>
          </a:prstGeom>
          <a:solidFill>
            <a:srgbClr val="F0FAF2"/>
          </a:solidFill>
          <a:ln w="25400">
            <a:solidFill>
              <a:srgbClr val="1E8C3A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9" name="Shape 74"/>
          <p:cNvSpPr/>
          <p:nvPr/>
        </p:nvSpPr>
        <p:spPr>
          <a:xfrm>
            <a:off x="457200" y="1371600"/>
            <a:ext cx="2375640" cy="7128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70" name="Text 70"/>
          <p:cNvSpPr/>
          <p:nvPr/>
        </p:nvSpPr>
        <p:spPr>
          <a:xfrm>
            <a:off x="45720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PENDING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1" name="Text 71"/>
          <p:cNvSpPr/>
          <p:nvPr/>
        </p:nvSpPr>
        <p:spPr>
          <a:xfrm>
            <a:off x="45720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구매자가 구매</a:t>
            </a: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대기상태</a:t>
            </a:r>
            <a:r>
              <a:rPr lang="en-US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2" name="Shape 77"/>
          <p:cNvSpPr/>
          <p:nvPr/>
        </p:nvSpPr>
        <p:spPr>
          <a:xfrm>
            <a:off x="5943600" y="1371600"/>
            <a:ext cx="2375640" cy="775440"/>
          </a:xfrm>
          <a:prstGeom prst="rect">
            <a:avLst/>
          </a:prstGeom>
          <a:solidFill>
            <a:srgbClr val="F0FAF2"/>
          </a:solidFill>
          <a:ln w="25400">
            <a:solidFill>
              <a:srgbClr val="1E8C3A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3" name="Shape 78"/>
          <p:cNvSpPr/>
          <p:nvPr/>
        </p:nvSpPr>
        <p:spPr>
          <a:xfrm>
            <a:off x="5943600" y="1371600"/>
            <a:ext cx="2375640" cy="71280"/>
          </a:xfrm>
          <a:prstGeom prst="rect">
            <a:avLst/>
          </a:prstGeom>
          <a:solidFill>
            <a:srgbClr val="1E8C3A"/>
          </a:solidFill>
          <a:ln w="127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74" name="Text 75"/>
          <p:cNvSpPr/>
          <p:nvPr/>
        </p:nvSpPr>
        <p:spPr>
          <a:xfrm>
            <a:off x="594360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C3A"/>
                </a:solidFill>
                <a:effectLst/>
                <a:uFillTx/>
                <a:latin typeface="Consolas"/>
                <a:ea typeface="Consolas"/>
              </a:rPr>
              <a:t>COMPLETED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5" name="Text 76"/>
          <p:cNvSpPr/>
          <p:nvPr/>
        </p:nvSpPr>
        <p:spPr>
          <a:xfrm>
            <a:off x="594360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거래완료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6" name="Shape 79"/>
          <p:cNvSpPr/>
          <p:nvPr/>
        </p:nvSpPr>
        <p:spPr>
          <a:xfrm>
            <a:off x="467640" y="2823840"/>
            <a:ext cx="2375640" cy="775440"/>
          </a:xfrm>
          <a:prstGeom prst="rect">
            <a:avLst/>
          </a:prstGeom>
          <a:solidFill>
            <a:srgbClr val="FFF0F0"/>
          </a:solidFill>
          <a:ln w="25400">
            <a:solidFill>
              <a:srgbClr val="D93025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7" name="Shape 80"/>
          <p:cNvSpPr/>
          <p:nvPr/>
        </p:nvSpPr>
        <p:spPr>
          <a:xfrm>
            <a:off x="467640" y="2823840"/>
            <a:ext cx="2375640" cy="7128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78" name="Text 77"/>
          <p:cNvSpPr/>
          <p:nvPr/>
        </p:nvSpPr>
        <p:spPr>
          <a:xfrm>
            <a:off x="467640" y="293364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3025"/>
                </a:solidFill>
                <a:effectLst/>
                <a:uFillTx/>
                <a:latin typeface="Consolas"/>
                <a:ea typeface="Consolas"/>
              </a:rPr>
              <a:t>CANCEL_REQUEST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9" name="Text 78"/>
          <p:cNvSpPr/>
          <p:nvPr/>
        </p:nvSpPr>
        <p:spPr>
          <a:xfrm>
            <a:off x="467640" y="329940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취소요청중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0" name="Shape 81"/>
          <p:cNvSpPr/>
          <p:nvPr/>
        </p:nvSpPr>
        <p:spPr>
          <a:xfrm>
            <a:off x="6787992" y="2806920"/>
            <a:ext cx="2375640" cy="775440"/>
          </a:xfrm>
          <a:prstGeom prst="rect">
            <a:avLst/>
          </a:prstGeom>
          <a:solidFill>
            <a:srgbClr val="EFF2F5"/>
          </a:solidFill>
          <a:ln w="25400">
            <a:solidFill>
              <a:srgbClr val="868E96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1" name="Shape 83"/>
          <p:cNvSpPr/>
          <p:nvPr/>
        </p:nvSpPr>
        <p:spPr>
          <a:xfrm>
            <a:off x="6787992" y="2806920"/>
            <a:ext cx="2375640" cy="71280"/>
          </a:xfrm>
          <a:prstGeom prst="rect">
            <a:avLst/>
          </a:prstGeom>
          <a:solidFill>
            <a:srgbClr val="868E96"/>
          </a:solidFill>
          <a:ln w="12700">
            <a:solidFill>
              <a:srgbClr val="868E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82" name="Text 79"/>
          <p:cNvSpPr/>
          <p:nvPr/>
        </p:nvSpPr>
        <p:spPr>
          <a:xfrm>
            <a:off x="6787992" y="291672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68E96"/>
                </a:solidFill>
                <a:effectLst/>
                <a:uFillTx/>
                <a:latin typeface="Consolas"/>
                <a:ea typeface="Consolas"/>
              </a:rPr>
              <a:t>CANCEL_COMPLETED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3" name="Text 80"/>
          <p:cNvSpPr/>
          <p:nvPr/>
        </p:nvSpPr>
        <p:spPr>
          <a:xfrm>
            <a:off x="6823452" y="328248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 dirty="0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취소 완료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4" name="Text 81"/>
          <p:cNvSpPr/>
          <p:nvPr/>
        </p:nvSpPr>
        <p:spPr>
          <a:xfrm>
            <a:off x="457200" y="1234440"/>
            <a:ext cx="31986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구매신청 </a:t>
            </a:r>
            <a:r>
              <a:rPr lang="en-US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구매자 </a:t>
            </a:r>
            <a:r>
              <a:rPr lang="en-US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ko-KR" sz="800" b="0" u="none" strike="noStrike">
                <a:solidFill>
                  <a:srgbClr val="E37400"/>
                </a:solidFill>
                <a:effectLst/>
                <a:uFillTx/>
                <a:latin typeface="Calibri"/>
                <a:ea typeface="Calibri"/>
              </a:rPr>
              <a:t>금액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5" name="Text 82"/>
          <p:cNvSpPr/>
          <p:nvPr/>
        </p:nvSpPr>
        <p:spPr>
          <a:xfrm>
            <a:off x="5212080" y="1234440"/>
            <a:ext cx="31986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거래 확정 </a:t>
            </a:r>
            <a:r>
              <a:rPr lang="en-US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판매자 </a:t>
            </a:r>
            <a:r>
              <a:rPr lang="en-US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ko-KR" sz="800" b="0" u="none" strike="noStrike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금액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6" name="Shape 86"/>
          <p:cNvSpPr/>
          <p:nvPr/>
        </p:nvSpPr>
        <p:spPr>
          <a:xfrm>
            <a:off x="1619640" y="2191320"/>
            <a:ext cx="360" cy="632520"/>
          </a:xfrm>
          <a:prstGeom prst="line">
            <a:avLst/>
          </a:prstGeom>
          <a:ln w="254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7" name="Text 83"/>
          <p:cNvSpPr/>
          <p:nvPr/>
        </p:nvSpPr>
        <p:spPr>
          <a:xfrm>
            <a:off x="1675800" y="2340000"/>
            <a:ext cx="109548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취소요청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8" name="Shape 87"/>
          <p:cNvSpPr/>
          <p:nvPr/>
        </p:nvSpPr>
        <p:spPr>
          <a:xfrm flipH="1">
            <a:off x="2843280" y="3014632"/>
            <a:ext cx="3944712" cy="0"/>
          </a:xfrm>
          <a:prstGeom prst="line">
            <a:avLst/>
          </a:prstGeom>
          <a:ln w="254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890" name="Table 2"/>
          <p:cNvGraphicFramePr/>
          <p:nvPr/>
        </p:nvGraphicFramePr>
        <p:xfrm>
          <a:off x="274320" y="3900000"/>
          <a:ext cx="8595360" cy="1600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이벤트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구매자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판매자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구매 신청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D930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 </a:t>
                      </a:r>
                      <a:r>
                        <a:rPr lang="ko-KR" sz="900" b="0" u="none" strike="noStrike">
                          <a:solidFill>
                            <a:srgbClr val="D930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금액 차감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거래 확정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금액 입금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취소 요청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취소 후 판매자 동의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환불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A73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배송 시작 (판매자)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판매자 거절 → SCR-020 적재 후 관리자 환불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900" b="0" u="none" strike="noStrike">
                          <a:solidFill>
                            <a:srgbClr val="1E8C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환불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900" b="0" u="none" strike="noStrike" dirty="0">
                          <a:solidFill>
                            <a:srgbClr val="1C2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변동 없음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>
                    <a:lnL w="12240">
                      <a:solidFill>
                        <a:srgbClr val="DEE2E6"/>
                      </a:solidFill>
                      <a:prstDash val="solid"/>
                    </a:lnL>
                    <a:lnR w="12240">
                      <a:solidFill>
                        <a:srgbClr val="DEE2E6"/>
                      </a:solidFill>
                      <a:prstDash val="solid"/>
                    </a:lnR>
                    <a:lnT w="12240">
                      <a:solidFill>
                        <a:srgbClr val="DEE2E6"/>
                      </a:solidFill>
                      <a:prstDash val="solid"/>
                    </a:lnT>
                    <a:lnB w="12240">
                      <a:solidFill>
                        <a:srgbClr val="DEE2E6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91" name="Shape 21"/>
          <p:cNvSpPr/>
          <p:nvPr/>
        </p:nvSpPr>
        <p:spPr>
          <a:xfrm>
            <a:off x="2833560" y="1757880"/>
            <a:ext cx="467160" cy="2880"/>
          </a:xfrm>
          <a:prstGeom prst="line">
            <a:avLst/>
          </a:prstGeom>
          <a:ln w="254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0" name="Shape_Shipping_Outer"/>
          <p:cNvSpPr/>
          <p:nvPr/>
        </p:nvSpPr>
        <p:spPr>
          <a:xfrm>
            <a:off x="3200720" y="1371600"/>
            <a:ext cx="2375640" cy="775440"/>
          </a:xfrm>
          <a:prstGeom prst="rect">
            <a:avLst/>
          </a:prstGeom>
          <a:solidFill>
            <a:srgbClr val="EEF4FF"/>
          </a:solidFill>
          <a:ln w="25400">
            <a:solidFill>
              <a:srgbClr val="1A73E8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01" name="Shape_Shipping_Header"/>
          <p:cNvSpPr/>
          <p:nvPr/>
        </p:nvSpPr>
        <p:spPr>
          <a:xfrm>
            <a:off x="3200720" y="1371600"/>
            <a:ext cx="2375640" cy="71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02" name="Text_Shipping_Status"/>
          <p:cNvSpPr/>
          <p:nvPr/>
        </p:nvSpPr>
        <p:spPr>
          <a:xfrm>
            <a:off x="3200720" y="1481400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73E8"/>
                </a:solidFill>
                <a:effectLst/>
                <a:uFillTx/>
                <a:latin typeface="Consolas"/>
                <a:ea typeface="Consolas"/>
              </a:rPr>
              <a:t>SHIPPING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3" name="Text_Shipping_Desc"/>
          <p:cNvSpPr/>
          <p:nvPr/>
        </p:nvSpPr>
        <p:spPr>
          <a:xfrm>
            <a:off x="3200720" y="1847160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868E96"/>
                </a:solidFill>
                <a:effectLst/>
                <a:uFillTx/>
                <a:latin typeface="Calibri"/>
                <a:ea typeface="Calibri"/>
              </a:rPr>
              <a:t>판매자 배송 진행중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4" name="Arrow_Shipping_Completed"/>
          <p:cNvSpPr/>
          <p:nvPr/>
        </p:nvSpPr>
        <p:spPr>
          <a:xfrm>
            <a:off x="5576360" y="1757880"/>
            <a:ext cx="367240" cy="2880"/>
          </a:xfrm>
          <a:prstGeom prst="line">
            <a:avLst/>
          </a:prstGeom>
          <a:ln w="254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5" name="Label_Shipping_Start"/>
          <p:cNvSpPr/>
          <p:nvPr/>
        </p:nvSpPr>
        <p:spPr>
          <a:xfrm>
            <a:off x="2400000" y="1234440"/>
            <a:ext cx="120000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1A73E8"/>
                </a:solidFill>
                <a:effectLst/>
                <a:uFillTx/>
                <a:latin typeface="Calibri"/>
                <a:ea typeface="Calibri"/>
              </a:rPr>
              <a:t>배송 시작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6" name="Arrow_Cancel_Rejected"/>
          <p:cNvSpPr/>
          <p:nvPr/>
        </p:nvSpPr>
        <p:spPr>
          <a:xfrm>
            <a:off x="2843280" y="3360000"/>
            <a:ext cx="1044720" cy="360"/>
          </a:xfrm>
          <a:prstGeom prst="line">
            <a:avLst/>
          </a:prstGeom>
          <a:ln w="25400">
            <a:solidFill>
              <a:srgbClr val="D93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8" name="Label_Reject_Admin"/>
          <p:cNvSpPr/>
          <p:nvPr/>
        </p:nvSpPr>
        <p:spPr>
          <a:xfrm>
            <a:off x="2699981" y="3380000"/>
            <a:ext cx="1100000" cy="1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750" b="0" u="none" strike="noStrike" dirty="0">
                <a:solidFill>
                  <a:srgbClr val="D93025"/>
                </a:solidFill>
                <a:effectLst/>
                <a:uFillTx/>
                <a:latin typeface="Calibri"/>
                <a:ea typeface="Calibri"/>
              </a:rPr>
              <a:t>판매자 거절 → CANCEL_REJECTED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0" name="Box_CANCEL_REJECTED"/>
          <p:cNvSpPr/>
          <p:nvPr/>
        </p:nvSpPr>
        <p:spPr>
          <a:xfrm>
            <a:off x="3642551" y="3090805"/>
            <a:ext cx="2375640" cy="73000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round/>
          </a:ln>
          <a:effectLst>
            <a:outerShdw blurRad="763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>
              <a:latin typeface="맑은 고딕"/>
            </a:endParaRPr>
          </a:p>
        </p:txBody>
      </p:sp>
      <p:sp>
        <p:nvSpPr>
          <p:cNvPr id="911" name="Header_CANCEL_REJECTED"/>
          <p:cNvSpPr/>
          <p:nvPr/>
        </p:nvSpPr>
        <p:spPr>
          <a:xfrm>
            <a:off x="3648656" y="3091113"/>
            <a:ext cx="2375640" cy="71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12" name="Text_CANCEL_REJECTED_label"/>
          <p:cNvSpPr/>
          <p:nvPr/>
        </p:nvSpPr>
        <p:spPr>
          <a:xfrm>
            <a:off x="3567960" y="3222345"/>
            <a:ext cx="23756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CANCEL_REJECTED</a:t>
            </a:r>
          </a:p>
        </p:txBody>
      </p:sp>
      <p:sp>
        <p:nvSpPr>
          <p:cNvPr id="913" name="Text_CANCEL_REJECTED_sub"/>
          <p:cNvSpPr/>
          <p:nvPr/>
        </p:nvSpPr>
        <p:spPr>
          <a:xfrm>
            <a:off x="3567960" y="3588625"/>
            <a:ext cx="237564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판매자 거절 · 관리자 검토중</a:t>
            </a:r>
          </a:p>
        </p:txBody>
      </p:sp>
      <p:sp>
        <p:nvSpPr>
          <p:cNvPr id="914" name="Label_Rejected_To_Completed"/>
          <p:cNvSpPr/>
          <p:nvPr/>
        </p:nvSpPr>
        <p:spPr>
          <a:xfrm>
            <a:off x="5864408" y="3219966"/>
            <a:ext cx="1200000" cy="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75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  <a:ea typeface="Calibri"/>
              </a:rPr>
              <a:t>관리자 승인 → 환불</a:t>
            </a:r>
          </a:p>
        </p:txBody>
      </p:sp>
      <p:sp>
        <p:nvSpPr>
          <p:cNvPr id="2" name="Label_Agree_Refund"/>
          <p:cNvSpPr/>
          <p:nvPr/>
        </p:nvSpPr>
        <p:spPr>
          <a:xfrm>
            <a:off x="2815640" y="2801576"/>
            <a:ext cx="1100000" cy="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750" b="0" u="none" strike="noStrike" dirty="0" err="1">
                <a:solidFill>
                  <a:srgbClr val="1E8C3A"/>
                </a:solidFill>
                <a:effectLst/>
                <a:uFillTx/>
                <a:latin typeface="Calibri"/>
                <a:ea typeface="Calibri"/>
              </a:rPr>
              <a:t>판매자동의→자동환불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Arrow_Shipping_Completed">
            <a:extLst>
              <a:ext uri="{FF2B5EF4-FFF2-40B4-BE49-F238E27FC236}">
                <a16:creationId xmlns:a16="http://schemas.microsoft.com/office/drawing/2014/main" id="{A7921297-2753-04D5-6838-0AB1BFA9643E}"/>
              </a:ext>
            </a:extLst>
          </p:cNvPr>
          <p:cNvSpPr/>
          <p:nvPr/>
        </p:nvSpPr>
        <p:spPr>
          <a:xfrm>
            <a:off x="6018190" y="3431588"/>
            <a:ext cx="769802" cy="0"/>
          </a:xfrm>
          <a:prstGeom prst="line">
            <a:avLst/>
          </a:prstGeom>
          <a:ln w="25400">
            <a:solidFill>
              <a:srgbClr val="1E8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2873</Words>
  <Application>Microsoft Office PowerPoint</Application>
  <PresentationFormat>화면 슬라이드 쇼(16:9)</PresentationFormat>
  <Paragraphs>632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Noto Sans KR</vt:lpstr>
      <vt:lpstr>맑은 고딕</vt:lpstr>
      <vt:lpstr>Arial</vt:lpstr>
      <vt:lpstr>Calibri</vt:lpstr>
      <vt:lpstr>Consolas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중고 컴퓨터 거래 사이트 - 화면정의서</dc:title>
  <dc:subject>PptxGenJS Presentation</dc:subject>
  <dc:creator>PptxGenJS</dc:creator>
  <dc:description/>
  <cp:lastModifiedBy>효도 이</cp:lastModifiedBy>
  <cp:revision>16</cp:revision>
  <dcterms:created xsi:type="dcterms:W3CDTF">2026-02-27T00:57:41Z</dcterms:created>
  <dcterms:modified xsi:type="dcterms:W3CDTF">2026-03-06T06:31:30Z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